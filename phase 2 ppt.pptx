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10"/>
              <a:t>/15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10"/>
              <a:t>/15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10"/>
              <a:t>/15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10"/>
              <a:t>/15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10"/>
              <a:t>/15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894" y="913419"/>
            <a:ext cx="2495550" cy="2146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27313" y="3133522"/>
            <a:ext cx="23812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10"/>
              <a:t>/15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shauryabisht75-ui/Local-shop-delivery-system-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shauryabisht75-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 h="0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9334" y="174758"/>
            <a:ext cx="359949" cy="3599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378" y="819694"/>
            <a:ext cx="4474845" cy="4032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60"/>
              <a:t>PROJECT-</a:t>
            </a:r>
            <a:r>
              <a:rPr dirty="0" sz="2450" spc="65"/>
              <a:t>BASED</a:t>
            </a:r>
            <a:r>
              <a:rPr dirty="0" sz="2450" spc="-345"/>
              <a:t> </a:t>
            </a:r>
            <a:r>
              <a:rPr dirty="0" sz="2450" spc="-10"/>
              <a:t>LEARNING</a:t>
            </a:r>
            <a:endParaRPr sz="2450"/>
          </a:p>
        </p:txBody>
      </p:sp>
      <p:sp>
        <p:nvSpPr>
          <p:cNvPr id="5" name="object 5"/>
          <p:cNvSpPr txBox="1"/>
          <p:nvPr/>
        </p:nvSpPr>
        <p:spPr>
          <a:xfrm>
            <a:off x="1785340" y="1195928"/>
            <a:ext cx="2189480" cy="97599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700">
                <a:latin typeface="Trebuchet MS"/>
                <a:cs typeface="Trebuchet MS"/>
              </a:rPr>
              <a:t>PHASE-II</a:t>
            </a:r>
            <a:r>
              <a:rPr dirty="0" sz="1700" spc="3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EVALUATION</a:t>
            </a: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dirty="0" sz="1400" spc="-40" b="1">
                <a:solidFill>
                  <a:srgbClr val="595959"/>
                </a:solidFill>
                <a:latin typeface="Tahoma"/>
                <a:cs typeface="Tahoma"/>
              </a:rPr>
              <a:t>Local</a:t>
            </a:r>
            <a:r>
              <a:rPr dirty="0" sz="1400" spc="-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0" b="1">
                <a:solidFill>
                  <a:srgbClr val="595959"/>
                </a:solidFill>
                <a:latin typeface="Tahoma"/>
                <a:cs typeface="Tahoma"/>
              </a:rPr>
              <a:t>shop</a:t>
            </a:r>
            <a:r>
              <a:rPr dirty="0" sz="1400" spc="-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85" b="1">
                <a:solidFill>
                  <a:srgbClr val="595959"/>
                </a:solidFill>
                <a:latin typeface="Tahoma"/>
                <a:cs typeface="Tahoma"/>
              </a:rPr>
              <a:t>delivery</a:t>
            </a:r>
            <a:r>
              <a:rPr dirty="0" sz="1400" spc="-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0" b="1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dirty="0" sz="1100" spc="-65">
                <a:solidFill>
                  <a:srgbClr val="133768"/>
                </a:solidFill>
                <a:latin typeface="Microsoft Sans Serif"/>
                <a:cs typeface="Microsoft Sans Serif"/>
              </a:rPr>
              <a:t>Team</a:t>
            </a:r>
            <a:r>
              <a:rPr dirty="0" sz="1100" spc="95">
                <a:solidFill>
                  <a:srgbClr val="133768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33768"/>
                </a:solidFill>
                <a:latin typeface="Microsoft Sans Serif"/>
                <a:cs typeface="Microsoft Sans Serif"/>
              </a:rPr>
              <a:t>ID:</a:t>
            </a:r>
            <a:r>
              <a:rPr dirty="0" sz="1100" spc="95">
                <a:solidFill>
                  <a:srgbClr val="133768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65">
                <a:solidFill>
                  <a:srgbClr val="133768"/>
                </a:solidFill>
                <a:latin typeface="Microsoft Sans Serif"/>
                <a:cs typeface="Microsoft Sans Serif"/>
              </a:rPr>
              <a:t>DSCPP-</a:t>
            </a:r>
            <a:r>
              <a:rPr dirty="0" sz="1100" spc="-10">
                <a:solidFill>
                  <a:srgbClr val="133768"/>
                </a:solidFill>
                <a:latin typeface="Microsoft Sans Serif"/>
                <a:cs typeface="Microsoft Sans Serif"/>
              </a:rPr>
              <a:t>III-</a:t>
            </a:r>
            <a:r>
              <a:rPr dirty="0" sz="1100" spc="-45">
                <a:solidFill>
                  <a:srgbClr val="133768"/>
                </a:solidFill>
                <a:latin typeface="Microsoft Sans Serif"/>
                <a:cs typeface="Microsoft Sans Serif"/>
              </a:rPr>
              <a:t>2026-</a:t>
            </a:r>
            <a:r>
              <a:rPr dirty="0" sz="1100" spc="-20">
                <a:solidFill>
                  <a:srgbClr val="133768"/>
                </a:solidFill>
                <a:latin typeface="Microsoft Sans Serif"/>
                <a:cs typeface="Microsoft Sans Serif"/>
              </a:rPr>
              <a:t>T113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1257" y="2580702"/>
            <a:ext cx="3117215" cy="49275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 spc="-65" b="1">
                <a:latin typeface="Tahoma"/>
                <a:cs typeface="Tahoma"/>
              </a:rPr>
              <a:t>Department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10" b="1">
                <a:latin typeface="Tahoma"/>
                <a:cs typeface="Tahoma"/>
              </a:rPr>
              <a:t>of</a:t>
            </a:r>
            <a:r>
              <a:rPr dirty="0" sz="1100" spc="15" b="1">
                <a:latin typeface="Tahoma"/>
                <a:cs typeface="Tahoma"/>
              </a:rPr>
              <a:t> </a:t>
            </a:r>
            <a:r>
              <a:rPr dirty="0" sz="1100" spc="-60" b="1">
                <a:latin typeface="Tahoma"/>
                <a:cs typeface="Tahoma"/>
              </a:rPr>
              <a:t>Computer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55" b="1">
                <a:latin typeface="Tahoma"/>
                <a:cs typeface="Tahoma"/>
              </a:rPr>
              <a:t>Science</a:t>
            </a:r>
            <a:r>
              <a:rPr dirty="0" sz="1100" spc="15" b="1">
                <a:latin typeface="Tahoma"/>
                <a:cs typeface="Tahoma"/>
              </a:rPr>
              <a:t> </a:t>
            </a:r>
            <a:r>
              <a:rPr dirty="0" sz="1100" b="1">
                <a:latin typeface="Tahoma"/>
                <a:cs typeface="Tahoma"/>
              </a:rPr>
              <a:t>&amp;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50" b="1">
                <a:latin typeface="Tahoma"/>
                <a:cs typeface="Tahoma"/>
              </a:rPr>
              <a:t>Engineering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100" spc="-45">
                <a:latin typeface="Microsoft Sans Serif"/>
                <a:cs typeface="Microsoft Sans Serif"/>
              </a:rPr>
              <a:t>Graphic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Era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55">
                <a:latin typeface="Microsoft Sans Serif"/>
                <a:cs typeface="Microsoft Sans Serif"/>
              </a:rPr>
              <a:t>(Deemed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be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University),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Dehradun</a:t>
            </a:r>
            <a:endParaRPr sz="11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800" spc="-10">
                <a:latin typeface="Arial"/>
                <a:cs typeface="Arial"/>
              </a:rPr>
              <a:t>Academic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40">
                <a:latin typeface="Arial"/>
                <a:cs typeface="Arial"/>
              </a:rPr>
              <a:t>Session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2026–</a:t>
            </a:r>
            <a:r>
              <a:rPr dirty="0" sz="800" spc="-25">
                <a:latin typeface="Arial"/>
                <a:cs typeface="Arial"/>
              </a:rPr>
              <a:t>27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Team</a:t>
            </a:r>
            <a:r>
              <a:rPr dirty="0" spc="15"/>
              <a:t> </a:t>
            </a:r>
            <a:r>
              <a:rPr dirty="0" spc="85"/>
              <a:t>&amp;</a:t>
            </a:r>
            <a:r>
              <a:rPr dirty="0" spc="15"/>
              <a:t> </a:t>
            </a:r>
            <a:r>
              <a:rPr dirty="0" spc="-20"/>
              <a:t>Mentor</a:t>
            </a:r>
            <a:r>
              <a:rPr dirty="0" spc="20"/>
              <a:t> </a:t>
            </a:r>
            <a:r>
              <a:rPr dirty="0" spc="-45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193" y="1195730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7294" y="1174747"/>
            <a:ext cx="11296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Team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Information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0016" y="1195730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968117" y="1174747"/>
            <a:ext cx="98551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Team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Members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370901"/>
            <a:ext cx="2520950" cy="802640"/>
            <a:chOff x="309193" y="1370901"/>
            <a:chExt cx="2520950" cy="8026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70901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15184"/>
              <a:ext cx="2520950" cy="758190"/>
            </a:xfrm>
            <a:custGeom>
              <a:avLst/>
              <a:gdLst/>
              <a:ahLst/>
              <a:cxnLst/>
              <a:rect l="l" t="t" r="r" b="b"/>
              <a:pathLst>
                <a:path w="2520950" h="758189">
                  <a:moveTo>
                    <a:pt x="2520810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2470010" y="758039"/>
                  </a:lnTo>
                  <a:lnTo>
                    <a:pt x="2489735" y="754030"/>
                  </a:lnTo>
                  <a:lnTo>
                    <a:pt x="2505888" y="743116"/>
                  </a:lnTo>
                  <a:lnTo>
                    <a:pt x="2516802" y="726963"/>
                  </a:lnTo>
                  <a:lnTo>
                    <a:pt x="2520810" y="707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47294" y="1409698"/>
            <a:ext cx="651510" cy="7080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45" b="1">
                <a:latin typeface="Tahoma"/>
                <a:cs typeface="Tahoma"/>
              </a:rPr>
              <a:t>Team</a:t>
            </a:r>
            <a:r>
              <a:rPr dirty="0" sz="1100" spc="-30" b="1">
                <a:latin typeface="Tahoma"/>
                <a:cs typeface="Tahoma"/>
              </a:rPr>
              <a:t> </a:t>
            </a:r>
            <a:r>
              <a:rPr dirty="0" sz="1100" spc="-25" b="1">
                <a:latin typeface="Tahoma"/>
                <a:cs typeface="Tahoma"/>
              </a:rPr>
              <a:t>ID: </a:t>
            </a:r>
            <a:r>
              <a:rPr dirty="0" sz="1100" spc="-85" b="1">
                <a:latin typeface="Tahoma"/>
                <a:cs typeface="Tahoma"/>
              </a:rPr>
              <a:t>Semester: </a:t>
            </a:r>
            <a:r>
              <a:rPr dirty="0" sz="1100" spc="-10" b="1">
                <a:latin typeface="Tahoma"/>
                <a:cs typeface="Tahoma"/>
              </a:rPr>
              <a:t>Section: Domain: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4839" y="1409698"/>
            <a:ext cx="1309370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>
                <a:latin typeface="Microsoft Sans Serif"/>
                <a:cs typeface="Microsoft Sans Serif"/>
              </a:rPr>
              <a:t>DSCPP-</a:t>
            </a:r>
            <a:r>
              <a:rPr dirty="0" sz="1100" spc="-10">
                <a:latin typeface="Microsoft Sans Serif"/>
                <a:cs typeface="Microsoft Sans Serif"/>
              </a:rPr>
              <a:t>III-</a:t>
            </a:r>
            <a:r>
              <a:rPr dirty="0" sz="1100" spc="-45">
                <a:latin typeface="Microsoft Sans Serif"/>
                <a:cs typeface="Microsoft Sans Serif"/>
              </a:rPr>
              <a:t>2026-</a:t>
            </a:r>
            <a:r>
              <a:rPr dirty="0" sz="1100" spc="-20">
                <a:latin typeface="Microsoft Sans Serif"/>
                <a:cs typeface="Microsoft Sans Serif"/>
              </a:rPr>
              <a:t>T113</a:t>
            </a:r>
            <a:endParaRPr sz="1100">
              <a:latin typeface="Microsoft Sans Serif"/>
              <a:cs typeface="Microsoft Sans Serif"/>
            </a:endParaRPr>
          </a:p>
          <a:p>
            <a:pPr marL="12700" marR="958215">
              <a:lnSpc>
                <a:spcPct val="102600"/>
              </a:lnSpc>
            </a:pPr>
            <a:r>
              <a:rPr dirty="0" sz="1100" spc="-25">
                <a:latin typeface="Microsoft Sans Serif"/>
                <a:cs typeface="Microsoft Sans Serif"/>
              </a:rPr>
              <a:t>3rd </a:t>
            </a:r>
            <a:r>
              <a:rPr dirty="0" sz="1100" spc="-40">
                <a:latin typeface="Microsoft Sans Serif"/>
                <a:cs typeface="Microsoft Sans Serif"/>
              </a:rPr>
              <a:t>J,K,G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E-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commerce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30016" y="1370901"/>
            <a:ext cx="2520950" cy="753745"/>
            <a:chOff x="2930016" y="1370901"/>
            <a:chExt cx="2520950" cy="75374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370901"/>
              <a:ext cx="252081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30016" y="1415175"/>
              <a:ext cx="2520950" cy="709295"/>
            </a:xfrm>
            <a:custGeom>
              <a:avLst/>
              <a:gdLst/>
              <a:ahLst/>
              <a:cxnLst/>
              <a:rect l="l" t="t" r="r" b="b"/>
              <a:pathLst>
                <a:path w="2520950" h="709294">
                  <a:moveTo>
                    <a:pt x="2520810" y="0"/>
                  </a:moveTo>
                  <a:lnTo>
                    <a:pt x="0" y="0"/>
                  </a:lnTo>
                  <a:lnTo>
                    <a:pt x="0" y="658315"/>
                  </a:lnTo>
                  <a:lnTo>
                    <a:pt x="4008" y="678040"/>
                  </a:lnTo>
                  <a:lnTo>
                    <a:pt x="14922" y="694193"/>
                  </a:lnTo>
                  <a:lnTo>
                    <a:pt x="31075" y="705107"/>
                  </a:lnTo>
                  <a:lnTo>
                    <a:pt x="50800" y="709116"/>
                  </a:lnTo>
                  <a:lnTo>
                    <a:pt x="2470010" y="709116"/>
                  </a:lnTo>
                  <a:lnTo>
                    <a:pt x="2489735" y="705107"/>
                  </a:lnTo>
                  <a:lnTo>
                    <a:pt x="2505888" y="694193"/>
                  </a:lnTo>
                  <a:lnTo>
                    <a:pt x="2516802" y="678040"/>
                  </a:lnTo>
                  <a:lnTo>
                    <a:pt x="2520810" y="658315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968117" y="1385454"/>
            <a:ext cx="2025650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Font typeface="Microsoft Sans Serif"/>
              <a:buAutoNum type="arabicPeriod"/>
              <a:tabLst>
                <a:tab pos="258445" algn="l"/>
              </a:tabLst>
            </a:pP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Shaurya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Bisht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2510012399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Microsoft Sans Serif"/>
              <a:buAutoNum type="arabicPeriod"/>
              <a:tabLst>
                <a:tab pos="258445" algn="l"/>
              </a:tabLst>
            </a:pP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Mayank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Ranjan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2510011761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Microsoft Sans Serif"/>
              <a:buAutoNum type="arabicPeriod"/>
              <a:tabLst>
                <a:tab pos="258445" algn="l"/>
              </a:tabLst>
            </a:pP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Raj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Vardhan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2510010483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Microsoft Sans Serif"/>
              <a:buAutoNum type="arabicPeriod"/>
              <a:tabLst>
                <a:tab pos="258445" algn="l"/>
              </a:tabLst>
            </a:pP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Aradhay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Singh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2510011780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193" y="2333789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47294" y="2312794"/>
            <a:ext cx="4711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5">
                <a:solidFill>
                  <a:srgbClr val="133768"/>
                </a:solidFill>
                <a:latin typeface="Gill Sans MT"/>
                <a:cs typeface="Gill Sans MT"/>
              </a:rPr>
              <a:t>Mentor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9193" y="2508961"/>
            <a:ext cx="5142230" cy="238125"/>
            <a:chOff x="309193" y="2508961"/>
            <a:chExt cx="5142230" cy="23812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508961"/>
              <a:ext cx="5141666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193" y="2553242"/>
              <a:ext cx="5142230" cy="193675"/>
            </a:xfrm>
            <a:custGeom>
              <a:avLst/>
              <a:gdLst/>
              <a:ahLst/>
              <a:cxnLst/>
              <a:rect l="l" t="t" r="r" b="b"/>
              <a:pathLst>
                <a:path w="5142230" h="193675">
                  <a:moveTo>
                    <a:pt x="5141666" y="0"/>
                  </a:moveTo>
                  <a:lnTo>
                    <a:pt x="0" y="0"/>
                  </a:lnTo>
                  <a:lnTo>
                    <a:pt x="0" y="142853"/>
                  </a:lnTo>
                  <a:lnTo>
                    <a:pt x="4008" y="162578"/>
                  </a:lnTo>
                  <a:lnTo>
                    <a:pt x="14922" y="178731"/>
                  </a:lnTo>
                  <a:lnTo>
                    <a:pt x="31075" y="189645"/>
                  </a:lnTo>
                  <a:lnTo>
                    <a:pt x="50800" y="193654"/>
                  </a:lnTo>
                  <a:lnTo>
                    <a:pt x="5090865" y="193654"/>
                  </a:lnTo>
                  <a:lnTo>
                    <a:pt x="5110590" y="189645"/>
                  </a:lnTo>
                  <a:lnTo>
                    <a:pt x="5126743" y="178731"/>
                  </a:lnTo>
                  <a:lnTo>
                    <a:pt x="5137657" y="162578"/>
                  </a:lnTo>
                  <a:lnTo>
                    <a:pt x="5141666" y="14285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47294" y="2523513"/>
            <a:ext cx="12014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Mr.Priyanshu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Rawat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32106" y="2523513"/>
            <a:ext cx="20808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67560" algn="l"/>
              </a:tabLst>
            </a:pPr>
            <a:r>
              <a:rPr dirty="0" sz="1100" spc="-75" b="1">
                <a:latin typeface="Tahoma"/>
                <a:cs typeface="Tahoma"/>
              </a:rPr>
              <a:t>Interactions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65" b="1">
                <a:latin typeface="Tahoma"/>
                <a:cs typeface="Tahoma"/>
              </a:rPr>
              <a:t>completed:</a:t>
            </a:r>
            <a:r>
              <a:rPr dirty="0" sz="1100" spc="85" b="1">
                <a:latin typeface="Tahoma"/>
                <a:cs typeface="Tahoma"/>
              </a:rPr>
              <a:t> </a:t>
            </a:r>
            <a:r>
              <a:rPr dirty="0" u="sng" sz="1100" spc="-5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4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	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300" y="3115378"/>
            <a:ext cx="31153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Department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of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Computer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133768"/>
                </a:solidFill>
                <a:latin typeface="Arial"/>
                <a:cs typeface="Arial"/>
              </a:rPr>
              <a:t>Science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80">
                <a:solidFill>
                  <a:srgbClr val="133768"/>
                </a:solidFill>
                <a:latin typeface="Arial"/>
                <a:cs typeface="Arial"/>
              </a:rPr>
              <a:t>&amp;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Engineering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—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Graphic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Era</a:t>
            </a:r>
            <a:r>
              <a:rPr dirty="0" sz="600" spc="3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(Deemed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to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be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University)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78113" y="3115378"/>
            <a:ext cx="1873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0">
                <a:solidFill>
                  <a:srgbClr val="0E294E"/>
                </a:solidFill>
                <a:latin typeface="Arial"/>
                <a:cs typeface="Arial"/>
              </a:rPr>
              <a:t>2/15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95"/>
              <a:t>Phase-</a:t>
            </a:r>
            <a:r>
              <a:rPr dirty="0"/>
              <a:t>I</a:t>
            </a:r>
            <a:r>
              <a:rPr dirty="0" spc="35"/>
              <a:t> </a:t>
            </a:r>
            <a:r>
              <a:rPr dirty="0" spc="-40"/>
              <a:t>Recap</a:t>
            </a:r>
            <a:r>
              <a:rPr dirty="0" spc="40"/>
              <a:t> </a:t>
            </a:r>
            <a:r>
              <a:rPr dirty="0" spc="85"/>
              <a:t>&amp;</a:t>
            </a:r>
            <a:r>
              <a:rPr dirty="0" spc="35"/>
              <a:t> </a:t>
            </a:r>
            <a:r>
              <a:rPr dirty="0" spc="-55"/>
              <a:t>Feedback</a:t>
            </a:r>
            <a:r>
              <a:rPr dirty="0" spc="40"/>
              <a:t> </a:t>
            </a:r>
            <a:r>
              <a:rPr dirty="0" spc="-80"/>
              <a:t>Incorporated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193" y="977683"/>
            <a:ext cx="5142230" cy="553085"/>
          </a:xfrm>
          <a:custGeom>
            <a:avLst/>
            <a:gdLst/>
            <a:ahLst/>
            <a:cxnLst/>
            <a:rect l="l" t="t" r="r" b="b"/>
            <a:pathLst>
              <a:path w="5142230" h="553085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552643"/>
                </a:lnTo>
                <a:lnTo>
                  <a:pt x="5141666" y="55264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7294" y="956701"/>
            <a:ext cx="4984115" cy="56197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Phase-I</a:t>
            </a:r>
            <a:r>
              <a:rPr dirty="0" sz="1200" spc="5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Status:Proposed</a:t>
            </a:r>
            <a:r>
              <a:rPr dirty="0" sz="1200" spc="5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Local</a:t>
            </a:r>
            <a:r>
              <a:rPr dirty="0" sz="1200" spc="5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shop</a:t>
            </a:r>
            <a:r>
              <a:rPr dirty="0" sz="1200" spc="5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delivery</a:t>
            </a:r>
            <a:r>
              <a:rPr dirty="0" sz="1200" spc="5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system,</a:t>
            </a:r>
            <a:r>
              <a:rPr dirty="0" sz="1200" spc="5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a</a:t>
            </a:r>
            <a:r>
              <a:rPr dirty="0" sz="1200" spc="5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105">
                <a:solidFill>
                  <a:srgbClr val="133768"/>
                </a:solidFill>
                <a:latin typeface="Gill Sans MT"/>
                <a:cs typeface="Gill Sans MT"/>
              </a:rPr>
              <a:t>C++</a:t>
            </a:r>
            <a:r>
              <a:rPr dirty="0" sz="1200" spc="5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25">
                <a:solidFill>
                  <a:srgbClr val="133768"/>
                </a:solidFill>
                <a:latin typeface="Gill Sans MT"/>
                <a:cs typeface="Gill Sans MT"/>
              </a:rPr>
              <a:t>console</a:t>
            </a:r>
            <a:r>
              <a:rPr dirty="0" sz="1200" spc="5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app</a:t>
            </a:r>
            <a:r>
              <a:rPr dirty="0" sz="1200" spc="5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20">
                <a:solidFill>
                  <a:srgbClr val="133768"/>
                </a:solidFill>
                <a:latin typeface="Gill Sans MT"/>
                <a:cs typeface="Gill Sans MT"/>
              </a:rPr>
              <a:t>that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helps</a:t>
            </a:r>
            <a:r>
              <a:rPr dirty="0" sz="1200" spc="5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35">
                <a:solidFill>
                  <a:srgbClr val="133768"/>
                </a:solidFill>
                <a:latin typeface="Gill Sans MT"/>
                <a:cs typeface="Gill Sans MT"/>
              </a:rPr>
              <a:t>remote-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area</a:t>
            </a:r>
            <a:r>
              <a:rPr dirty="0" sz="1200" spc="5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30">
                <a:solidFill>
                  <a:srgbClr val="133768"/>
                </a:solidFill>
                <a:latin typeface="Gill Sans MT"/>
                <a:cs typeface="Gill Sans MT"/>
              </a:rPr>
              <a:t>shopkeepers</a:t>
            </a:r>
            <a:r>
              <a:rPr dirty="0" sz="1200" spc="5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sell</a:t>
            </a:r>
            <a:r>
              <a:rPr dirty="0" sz="1200" spc="5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online</a:t>
            </a:r>
            <a:r>
              <a:rPr dirty="0" sz="1200" spc="5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using</a:t>
            </a:r>
            <a:r>
              <a:rPr dirty="0" sz="1200" spc="5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DSA</a:t>
            </a:r>
            <a:r>
              <a:rPr dirty="0" sz="1200" spc="5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and</a:t>
            </a:r>
            <a:r>
              <a:rPr dirty="0" sz="1200" spc="5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MySQL.</a:t>
            </a:r>
            <a:r>
              <a:rPr dirty="0" sz="1200" spc="5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In</a:t>
            </a:r>
            <a:r>
              <a:rPr dirty="0" sz="1200" spc="5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Phase-I</a:t>
            </a:r>
            <a:r>
              <a:rPr dirty="0" sz="1200" spc="5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25">
                <a:solidFill>
                  <a:srgbClr val="133768"/>
                </a:solidFill>
                <a:latin typeface="Gill Sans MT"/>
                <a:cs typeface="Gill Sans MT"/>
              </a:rPr>
              <a:t>we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submitted</a:t>
            </a:r>
            <a:r>
              <a:rPr dirty="0" sz="1200" spc="2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the</a:t>
            </a:r>
            <a:r>
              <a:rPr dirty="0" sz="1200" spc="2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proposal</a:t>
            </a:r>
            <a:r>
              <a:rPr dirty="0" sz="1200" spc="2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and</a:t>
            </a:r>
            <a:r>
              <a:rPr dirty="0" sz="1200" spc="2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finalised</a:t>
            </a:r>
            <a:r>
              <a:rPr dirty="0" sz="1200" spc="2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the</a:t>
            </a:r>
            <a:r>
              <a:rPr dirty="0" sz="1200" spc="2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problem,</a:t>
            </a:r>
            <a:r>
              <a:rPr dirty="0" sz="1200" spc="2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modules,</a:t>
            </a:r>
            <a:r>
              <a:rPr dirty="0" sz="1200" spc="2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tech</a:t>
            </a:r>
            <a:r>
              <a:rPr dirty="0" sz="1200" spc="2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and</a:t>
            </a:r>
            <a:r>
              <a:rPr dirty="0" sz="1200" spc="2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DSA</a:t>
            </a:r>
            <a:r>
              <a:rPr dirty="0" sz="1200" spc="2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plan.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517675"/>
            <a:ext cx="5142230" cy="114300"/>
            <a:chOff x="309193" y="1517675"/>
            <a:chExt cx="5142230" cy="1143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517675"/>
              <a:ext cx="5141666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561951"/>
              <a:ext cx="5142230" cy="69850"/>
            </a:xfrm>
            <a:custGeom>
              <a:avLst/>
              <a:gdLst/>
              <a:ahLst/>
              <a:cxnLst/>
              <a:rect l="l" t="t" r="r" b="b"/>
              <a:pathLst>
                <a:path w="5142230" h="69850">
                  <a:moveTo>
                    <a:pt x="5141666" y="0"/>
                  </a:moveTo>
                  <a:lnTo>
                    <a:pt x="0" y="0"/>
                  </a:lnTo>
                  <a:lnTo>
                    <a:pt x="0" y="18931"/>
                  </a:lnTo>
                  <a:lnTo>
                    <a:pt x="4008" y="38656"/>
                  </a:lnTo>
                  <a:lnTo>
                    <a:pt x="14922" y="54809"/>
                  </a:lnTo>
                  <a:lnTo>
                    <a:pt x="31075" y="65723"/>
                  </a:lnTo>
                  <a:lnTo>
                    <a:pt x="50800" y="69732"/>
                  </a:lnTo>
                  <a:lnTo>
                    <a:pt x="5090865" y="69732"/>
                  </a:lnTo>
                  <a:lnTo>
                    <a:pt x="5110590" y="65723"/>
                  </a:lnTo>
                  <a:lnTo>
                    <a:pt x="5126743" y="54809"/>
                  </a:lnTo>
                  <a:lnTo>
                    <a:pt x="5137657" y="38656"/>
                  </a:lnTo>
                  <a:lnTo>
                    <a:pt x="5141666" y="1893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21894" y="1655976"/>
            <a:ext cx="2327275" cy="8407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75" b="1">
                <a:solidFill>
                  <a:srgbClr val="133768"/>
                </a:solidFill>
                <a:latin typeface="Tahoma"/>
                <a:cs typeface="Tahoma"/>
              </a:rPr>
              <a:t>Feedback</a:t>
            </a:r>
            <a:r>
              <a:rPr dirty="0" sz="1100" spc="5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Received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1.Keep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scope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realistic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2.Show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actually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need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3.Divide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work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clearly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team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2717" y="1655976"/>
            <a:ext cx="2465070" cy="135699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70" b="1">
                <a:solidFill>
                  <a:srgbClr val="133768"/>
                </a:solidFill>
                <a:latin typeface="Tahoma"/>
                <a:cs typeface="Tahoma"/>
              </a:rPr>
              <a:t>Changes</a:t>
            </a:r>
            <a:r>
              <a:rPr dirty="0" sz="110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Incorporated</a:t>
            </a:r>
            <a:endParaRPr sz="1100">
              <a:latin typeface="Tahoma"/>
              <a:cs typeface="Tahoma"/>
            </a:endParaRPr>
          </a:p>
          <a:p>
            <a:pPr marL="314960" marR="240665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1.Fixed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console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only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app,cash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delivery,no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real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GPS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2.Each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structure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has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feature:</a:t>
            </a:r>
            <a:r>
              <a:rPr dirty="0" sz="1100" spc="8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hash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map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lookup,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queue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orders,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sorting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price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comparison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3.One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Git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branch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300" y="2992855"/>
            <a:ext cx="4893945" cy="2393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162300">
              <a:lnSpc>
                <a:spcPts val="1145"/>
              </a:lnSpc>
              <a:spcBef>
                <a:spcPts val="90"/>
              </a:spcBef>
            </a:pP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per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member,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with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lead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545"/>
              </a:lnSpc>
            </a:pP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Department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of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Computer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133768"/>
                </a:solidFill>
                <a:latin typeface="Arial"/>
                <a:cs typeface="Arial"/>
              </a:rPr>
              <a:t>Science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80">
                <a:solidFill>
                  <a:srgbClr val="133768"/>
                </a:solidFill>
                <a:latin typeface="Arial"/>
                <a:cs typeface="Arial"/>
              </a:rPr>
              <a:t>&amp;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Engineering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—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Graphic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Era</a:t>
            </a:r>
            <a:r>
              <a:rPr dirty="0" sz="600" spc="3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(Deemed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to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be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University)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78113" y="3115378"/>
            <a:ext cx="1873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0">
                <a:solidFill>
                  <a:srgbClr val="0E294E"/>
                </a:solidFill>
                <a:latin typeface="Arial"/>
                <a:cs typeface="Arial"/>
              </a:rPr>
              <a:t>3/15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Problem</a:t>
            </a:r>
            <a:r>
              <a:rPr dirty="0" spc="25"/>
              <a:t> </a:t>
            </a:r>
            <a:r>
              <a:rPr dirty="0" spc="-55"/>
              <a:t>Statement</a:t>
            </a:r>
            <a:r>
              <a:rPr dirty="0" spc="30"/>
              <a:t> </a:t>
            </a:r>
            <a:r>
              <a:rPr dirty="0" spc="85"/>
              <a:t>&amp;</a:t>
            </a:r>
            <a:r>
              <a:rPr dirty="0" spc="30"/>
              <a:t> </a:t>
            </a:r>
            <a:r>
              <a:rPr dirty="0" spc="-50"/>
              <a:t>Finalized</a:t>
            </a:r>
            <a:r>
              <a:rPr dirty="0" spc="30"/>
              <a:t> </a:t>
            </a:r>
            <a:r>
              <a:rPr dirty="0" spc="-55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09193" y="977683"/>
            <a:ext cx="5142230" cy="756920"/>
            <a:chOff x="309193" y="977683"/>
            <a:chExt cx="5142230" cy="756920"/>
          </a:xfrm>
        </p:grpSpPr>
        <p:sp>
          <p:nvSpPr>
            <p:cNvPr id="5" name="object 5"/>
            <p:cNvSpPr/>
            <p:nvPr/>
          </p:nvSpPr>
          <p:spPr>
            <a:xfrm>
              <a:off x="309193" y="977683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152855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197133"/>
              <a:ext cx="5142230" cy="537210"/>
            </a:xfrm>
            <a:custGeom>
              <a:avLst/>
              <a:gdLst/>
              <a:ahLst/>
              <a:cxnLst/>
              <a:rect l="l" t="t" r="r" b="b"/>
              <a:pathLst>
                <a:path w="5142230" h="537210">
                  <a:moveTo>
                    <a:pt x="5141666" y="0"/>
                  </a:moveTo>
                  <a:lnTo>
                    <a:pt x="0" y="0"/>
                  </a:lnTo>
                  <a:lnTo>
                    <a:pt x="0" y="486238"/>
                  </a:lnTo>
                  <a:lnTo>
                    <a:pt x="4008" y="505963"/>
                  </a:lnTo>
                  <a:lnTo>
                    <a:pt x="14922" y="522116"/>
                  </a:lnTo>
                  <a:lnTo>
                    <a:pt x="31075" y="533030"/>
                  </a:lnTo>
                  <a:lnTo>
                    <a:pt x="50800" y="537039"/>
                  </a:lnTo>
                  <a:lnTo>
                    <a:pt x="5090865" y="537039"/>
                  </a:lnTo>
                  <a:lnTo>
                    <a:pt x="5110590" y="533030"/>
                  </a:lnTo>
                  <a:lnTo>
                    <a:pt x="5126743" y="522116"/>
                  </a:lnTo>
                  <a:lnTo>
                    <a:pt x="5137657" y="505963"/>
                  </a:lnTo>
                  <a:lnTo>
                    <a:pt x="5141666" y="48623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47294" y="925443"/>
            <a:ext cx="4895215" cy="218694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340"/>
              </a:spcBef>
            </a:pP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Problem</a:t>
            </a:r>
            <a:r>
              <a:rPr dirty="0" sz="1200" spc="-3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Statement</a:t>
            </a:r>
            <a:endParaRPr sz="1200">
              <a:latin typeface="Gill Sans MT"/>
              <a:cs typeface="Gill Sans MT"/>
            </a:endParaRPr>
          </a:p>
          <a:p>
            <a:pPr algn="just" marL="12700" marR="5080">
              <a:lnSpc>
                <a:spcPct val="102600"/>
              </a:lnSpc>
              <a:spcBef>
                <a:spcPts val="180"/>
              </a:spcBef>
            </a:pP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People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remote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areas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have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no </a:t>
            </a:r>
            <a:r>
              <a:rPr dirty="0" sz="1100" spc="-105" i="1">
                <a:solidFill>
                  <a:srgbClr val="595959"/>
                </a:solidFill>
                <a:latin typeface="Arial"/>
                <a:cs typeface="Arial"/>
              </a:rPr>
              <a:t>access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quick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delivery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apps,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local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shopkeepers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have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no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way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to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sell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online.</a:t>
            </a:r>
            <a:r>
              <a:rPr dirty="0" sz="1100" spc="8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LocalKart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connects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shopkeepers,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customers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delivery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agents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100" i="1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console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1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695"/>
              </a:spcBef>
            </a:pPr>
            <a:r>
              <a:rPr dirty="0" sz="1100" spc="-60" b="1">
                <a:solidFill>
                  <a:srgbClr val="133768"/>
                </a:solidFill>
                <a:latin typeface="Tahoma"/>
                <a:cs typeface="Tahoma"/>
              </a:rPr>
              <a:t>Finalized</a:t>
            </a:r>
            <a:r>
              <a:rPr dirty="0" sz="1100" spc="2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Objectives</a:t>
            </a:r>
            <a:endParaRPr sz="1100">
              <a:latin typeface="Tahoma"/>
              <a:cs typeface="Tahoma"/>
            </a:endParaRPr>
          </a:p>
          <a:p>
            <a:pPr marL="287655" indent="-175260">
              <a:lnSpc>
                <a:spcPct val="100000"/>
              </a:lnSpc>
              <a:spcBef>
                <a:spcPts val="85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7655" algn="l"/>
              </a:tabLst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Let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shopkeepers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add,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update,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delete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their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products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stock</a:t>
            </a:r>
            <a:endParaRPr sz="1100">
              <a:latin typeface="Arial"/>
              <a:cs typeface="Arial"/>
            </a:endParaRPr>
          </a:p>
          <a:p>
            <a:pPr marL="287655" marR="89535" indent="-175260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9560" algn="l"/>
              </a:tabLst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Let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customers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browse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products,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compare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prices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across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nearby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shops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place 	orders</a:t>
            </a:r>
            <a:endParaRPr sz="1100">
              <a:latin typeface="Arial"/>
              <a:cs typeface="Arial"/>
            </a:endParaRPr>
          </a:p>
          <a:p>
            <a:pPr marL="287655" marR="239395" indent="-175260">
              <a:lnSpc>
                <a:spcPct val="102699"/>
              </a:lnSpc>
              <a:spcBef>
                <a:spcPts val="300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9560" algn="l"/>
              </a:tabLst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Let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delivery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agents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register,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accept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orders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complete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deliveries,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nearest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agent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found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Dijkstra</a:t>
            </a:r>
            <a:endParaRPr sz="1100">
              <a:latin typeface="Arial"/>
              <a:cs typeface="Arial"/>
            </a:endParaRPr>
          </a:p>
          <a:p>
            <a:pPr marL="287655" indent="-17526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7655" algn="l"/>
              </a:tabLst>
            </a:pP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Store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MySQL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0" i="1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hash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maps,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queues,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linked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lists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sorting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14</a:t>
            </a:fld>
            <a:r>
              <a:rPr dirty="0" spc="-10"/>
              <a:t>/15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Updated</a:t>
            </a:r>
            <a:r>
              <a:rPr dirty="0" spc="15"/>
              <a:t> </a:t>
            </a:r>
            <a:r>
              <a:rPr dirty="0" spc="-55"/>
              <a:t>System</a:t>
            </a:r>
            <a:r>
              <a:rPr dirty="0" spc="15"/>
              <a:t> </a:t>
            </a:r>
            <a:r>
              <a:rPr dirty="0" spc="-50"/>
              <a:t>Architecture</a:t>
            </a:r>
            <a:r>
              <a:rPr dirty="0" spc="20"/>
              <a:t> </a:t>
            </a:r>
            <a:r>
              <a:rPr dirty="0"/>
              <a:t>/</a:t>
            </a:r>
            <a:r>
              <a:rPr dirty="0" spc="15"/>
              <a:t> </a:t>
            </a:r>
            <a:r>
              <a:rPr dirty="0" spc="-65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73325" y="1079365"/>
            <a:ext cx="761365" cy="361950"/>
            <a:chOff x="473325" y="1079365"/>
            <a:chExt cx="761365" cy="361950"/>
          </a:xfrm>
        </p:grpSpPr>
        <p:sp>
          <p:nvSpPr>
            <p:cNvPr id="5" name="object 5"/>
            <p:cNvSpPr/>
            <p:nvPr/>
          </p:nvSpPr>
          <p:spPr>
            <a:xfrm>
              <a:off x="475865" y="1081905"/>
              <a:ext cx="756285" cy="356870"/>
            </a:xfrm>
            <a:custGeom>
              <a:avLst/>
              <a:gdLst/>
              <a:ahLst/>
              <a:cxnLst/>
              <a:rect l="l" t="t" r="r" b="b"/>
              <a:pathLst>
                <a:path w="756285" h="356869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0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0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5865" y="1081905"/>
              <a:ext cx="756285" cy="356870"/>
            </a:xfrm>
            <a:custGeom>
              <a:avLst/>
              <a:gdLst/>
              <a:ahLst/>
              <a:cxnLst/>
              <a:rect l="l" t="t" r="r" b="b"/>
              <a:pathLst>
                <a:path w="756285" h="356869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0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0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01116" y="1076723"/>
            <a:ext cx="30607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Microsoft Sans Serif"/>
                <a:cs typeface="Microsoft Sans Serif"/>
              </a:rPr>
              <a:t>Input </a:t>
            </a:r>
            <a:r>
              <a:rPr dirty="0" sz="1000" spc="-70">
                <a:latin typeface="Microsoft Sans Serif"/>
                <a:cs typeface="Microsoft Sans Serif"/>
              </a:rPr>
              <a:t>Layer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86401" y="1079365"/>
            <a:ext cx="761365" cy="361950"/>
            <a:chOff x="1486401" y="1079365"/>
            <a:chExt cx="761365" cy="361950"/>
          </a:xfrm>
        </p:grpSpPr>
        <p:sp>
          <p:nvSpPr>
            <p:cNvPr id="9" name="object 9"/>
            <p:cNvSpPr/>
            <p:nvPr/>
          </p:nvSpPr>
          <p:spPr>
            <a:xfrm>
              <a:off x="1488941" y="1081905"/>
              <a:ext cx="756285" cy="356870"/>
            </a:xfrm>
            <a:custGeom>
              <a:avLst/>
              <a:gdLst/>
              <a:ahLst/>
              <a:cxnLst/>
              <a:rect l="l" t="t" r="r" b="b"/>
              <a:pathLst>
                <a:path w="756285" h="356869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0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0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88941" y="1081905"/>
              <a:ext cx="756285" cy="356870"/>
            </a:xfrm>
            <a:custGeom>
              <a:avLst/>
              <a:gdLst/>
              <a:ahLst/>
              <a:cxnLst/>
              <a:rect l="l" t="t" r="r" b="b"/>
              <a:pathLst>
                <a:path w="756285" h="356869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0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0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574647" y="1076723"/>
            <a:ext cx="58420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1765" marR="5080" indent="-139700">
              <a:lnSpc>
                <a:spcPct val="100000"/>
              </a:lnSpc>
              <a:spcBef>
                <a:spcPts val="95"/>
              </a:spcBef>
            </a:pPr>
            <a:r>
              <a:rPr dirty="0" sz="1000" spc="-65">
                <a:latin typeface="Microsoft Sans Serif"/>
                <a:cs typeface="Microsoft Sans Serif"/>
              </a:rPr>
              <a:t>Processing</a:t>
            </a:r>
            <a:r>
              <a:rPr dirty="0" sz="1000" spc="-10">
                <a:latin typeface="Microsoft Sans Serif"/>
                <a:cs typeface="Microsoft Sans Serif"/>
              </a:rPr>
              <a:t> Layer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99477" y="1079365"/>
            <a:ext cx="761365" cy="361950"/>
            <a:chOff x="2499477" y="1079365"/>
            <a:chExt cx="761365" cy="361950"/>
          </a:xfrm>
        </p:grpSpPr>
        <p:sp>
          <p:nvSpPr>
            <p:cNvPr id="13" name="object 13"/>
            <p:cNvSpPr/>
            <p:nvPr/>
          </p:nvSpPr>
          <p:spPr>
            <a:xfrm>
              <a:off x="2502017" y="1081905"/>
              <a:ext cx="756285" cy="356870"/>
            </a:xfrm>
            <a:custGeom>
              <a:avLst/>
              <a:gdLst/>
              <a:ahLst/>
              <a:cxnLst/>
              <a:rect l="l" t="t" r="r" b="b"/>
              <a:pathLst>
                <a:path w="756285" h="356869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02017" y="1081905"/>
              <a:ext cx="756285" cy="356870"/>
            </a:xfrm>
            <a:custGeom>
              <a:avLst/>
              <a:gdLst/>
              <a:ahLst/>
              <a:cxnLst/>
              <a:rect l="l" t="t" r="r" b="b"/>
              <a:pathLst>
                <a:path w="756285" h="356869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726537" y="1076723"/>
            <a:ext cx="30734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0320">
              <a:lnSpc>
                <a:spcPct val="100000"/>
              </a:lnSpc>
              <a:spcBef>
                <a:spcPts val="95"/>
              </a:spcBef>
            </a:pPr>
            <a:r>
              <a:rPr dirty="0" sz="1000" spc="-45">
                <a:latin typeface="Microsoft Sans Serif"/>
                <a:cs typeface="Microsoft Sans Serif"/>
              </a:rPr>
              <a:t>Core Logic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12553" y="1079365"/>
            <a:ext cx="761365" cy="361950"/>
            <a:chOff x="3512553" y="1079365"/>
            <a:chExt cx="761365" cy="361950"/>
          </a:xfrm>
        </p:grpSpPr>
        <p:sp>
          <p:nvSpPr>
            <p:cNvPr id="17" name="object 17"/>
            <p:cNvSpPr/>
            <p:nvPr/>
          </p:nvSpPr>
          <p:spPr>
            <a:xfrm>
              <a:off x="3515093" y="1081905"/>
              <a:ext cx="756285" cy="356870"/>
            </a:xfrm>
            <a:custGeom>
              <a:avLst/>
              <a:gdLst/>
              <a:ahLst/>
              <a:cxnLst/>
              <a:rect l="l" t="t" r="r" b="b"/>
              <a:pathLst>
                <a:path w="756285" h="356869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15093" y="1081905"/>
              <a:ext cx="756285" cy="356870"/>
            </a:xfrm>
            <a:custGeom>
              <a:avLst/>
              <a:gdLst/>
              <a:ahLst/>
              <a:cxnLst/>
              <a:rect l="l" t="t" r="r" b="b"/>
              <a:pathLst>
                <a:path w="756285" h="356869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635565" y="1076723"/>
            <a:ext cx="514984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6839" marR="5080" indent="-104775">
              <a:lnSpc>
                <a:spcPct val="100000"/>
              </a:lnSpc>
              <a:spcBef>
                <a:spcPts val="95"/>
              </a:spcBef>
            </a:pPr>
            <a:r>
              <a:rPr dirty="0" sz="1000" spc="-60">
                <a:latin typeface="Microsoft Sans Serif"/>
                <a:cs typeface="Microsoft Sans Serif"/>
              </a:rPr>
              <a:t>Database </a:t>
            </a:r>
            <a:r>
              <a:rPr dirty="0" sz="1000" spc="-10">
                <a:latin typeface="Microsoft Sans Serif"/>
                <a:cs typeface="Microsoft Sans Serif"/>
              </a:rPr>
              <a:t>Layer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34408" y="1236984"/>
            <a:ext cx="3275965" cy="46990"/>
            <a:chOff x="1234408" y="1236984"/>
            <a:chExt cx="3275965" cy="46990"/>
          </a:xfrm>
        </p:grpSpPr>
        <p:sp>
          <p:nvSpPr>
            <p:cNvPr id="25" name="object 25"/>
            <p:cNvSpPr/>
            <p:nvPr/>
          </p:nvSpPr>
          <p:spPr>
            <a:xfrm>
              <a:off x="1234408" y="1260233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 h="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419471" y="1242045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419471" y="1242045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47484" y="1260233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 h="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432547" y="1242045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432547" y="1242045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260559" y="1260233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 h="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445622" y="1242045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445622" y="1242045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273635" y="1260233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 h="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458699" y="1242045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458699" y="1242045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4525629" y="1079365"/>
            <a:ext cx="761365" cy="361950"/>
            <a:chOff x="4525629" y="1079365"/>
            <a:chExt cx="761365" cy="361950"/>
          </a:xfrm>
        </p:grpSpPr>
        <p:sp>
          <p:nvSpPr>
            <p:cNvPr id="21" name="object 21"/>
            <p:cNvSpPr/>
            <p:nvPr/>
          </p:nvSpPr>
          <p:spPr>
            <a:xfrm>
              <a:off x="4528169" y="1081905"/>
              <a:ext cx="756285" cy="356870"/>
            </a:xfrm>
            <a:custGeom>
              <a:avLst/>
              <a:gdLst/>
              <a:ahLst/>
              <a:cxnLst/>
              <a:rect l="l" t="t" r="r" b="b"/>
              <a:pathLst>
                <a:path w="756285" h="356869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28169" y="1081905"/>
              <a:ext cx="756285" cy="356870"/>
            </a:xfrm>
            <a:custGeom>
              <a:avLst/>
              <a:gdLst/>
              <a:ahLst/>
              <a:cxnLst/>
              <a:rect l="l" t="t" r="r" b="b"/>
              <a:pathLst>
                <a:path w="756285" h="356869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703114" y="1076723"/>
            <a:ext cx="40640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865" marR="5080" indent="-508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Microsoft Sans Serif"/>
                <a:cs typeface="Microsoft Sans Serif"/>
              </a:rPr>
              <a:t>Output </a:t>
            </a:r>
            <a:r>
              <a:rPr dirty="0" sz="1000" spc="-20">
                <a:latin typeface="Microsoft Sans Serif"/>
                <a:cs typeface="Microsoft Sans Serif"/>
              </a:rPr>
              <a:t>Layer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1894" y="1710649"/>
            <a:ext cx="1644014" cy="8407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40" b="1">
                <a:solidFill>
                  <a:srgbClr val="133768"/>
                </a:solidFill>
                <a:latin typeface="Tahoma"/>
                <a:cs typeface="Tahoma"/>
              </a:rPr>
              <a:t>Major</a:t>
            </a:r>
            <a:r>
              <a:rPr dirty="0" sz="1100" spc="-2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Components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Shop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Order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storage(MySQL)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42717" y="1710649"/>
            <a:ext cx="2372995" cy="118491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70" b="1">
                <a:solidFill>
                  <a:srgbClr val="133768"/>
                </a:solidFill>
                <a:latin typeface="Tahoma"/>
                <a:cs typeface="Tahoma"/>
              </a:rPr>
              <a:t>Changes</a:t>
            </a:r>
            <a:r>
              <a:rPr dirty="0" sz="1100" spc="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45" b="1">
                <a:solidFill>
                  <a:srgbClr val="133768"/>
                </a:solidFill>
                <a:latin typeface="Tahoma"/>
                <a:cs typeface="Tahoma"/>
              </a:rPr>
              <a:t>Since</a:t>
            </a:r>
            <a:r>
              <a:rPr dirty="0" sz="1100" spc="1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95" b="1">
                <a:solidFill>
                  <a:srgbClr val="133768"/>
                </a:solidFill>
                <a:latin typeface="Tahoma"/>
                <a:cs typeface="Tahoma"/>
              </a:rPr>
              <a:t>Phase-</a:t>
            </a:r>
            <a:r>
              <a:rPr dirty="0" sz="1100" spc="-50" b="1">
                <a:solidFill>
                  <a:srgbClr val="133768"/>
                </a:solidFill>
                <a:latin typeface="Tahoma"/>
                <a:cs typeface="Tahoma"/>
              </a:rPr>
              <a:t>I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Built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layers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Added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MySQL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connection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through </a:t>
            </a:r>
            <a:r>
              <a:rPr dirty="0" sz="1100" spc="100" i="1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dirty="0" sz="1100" spc="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connector</a:t>
            </a:r>
            <a:endParaRPr sz="1100">
              <a:latin typeface="Arial"/>
              <a:cs typeface="Arial"/>
            </a:endParaRPr>
          </a:p>
          <a:p>
            <a:pPr marL="314960" marR="14859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Order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status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now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handled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queue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linked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list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14</a:t>
            </a:fld>
            <a:r>
              <a:rPr dirty="0" spc="-10"/>
              <a:t>/15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Module</a:t>
            </a:r>
            <a:r>
              <a:rPr dirty="0" spc="15"/>
              <a:t> </a:t>
            </a:r>
            <a:r>
              <a:rPr dirty="0" spc="-50"/>
              <a:t>Design</a:t>
            </a:r>
            <a:r>
              <a:rPr dirty="0" spc="15"/>
              <a:t> </a:t>
            </a:r>
            <a:r>
              <a:rPr dirty="0" spc="85"/>
              <a:t>&amp;</a:t>
            </a:r>
            <a:r>
              <a:rPr dirty="0" spc="15"/>
              <a:t> </a:t>
            </a:r>
            <a:r>
              <a:rPr dirty="0" spc="-55"/>
              <a:t>Functional</a:t>
            </a:r>
            <a:r>
              <a:rPr dirty="0" spc="15"/>
              <a:t> </a:t>
            </a:r>
            <a:r>
              <a:rPr dirty="0" spc="-70"/>
              <a:t>Requirements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913419"/>
            <a:ext cx="2129790" cy="10756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40" b="1">
                <a:solidFill>
                  <a:srgbClr val="133768"/>
                </a:solidFill>
                <a:latin typeface="Tahoma"/>
                <a:cs typeface="Tahoma"/>
              </a:rPr>
              <a:t>Major</a:t>
            </a:r>
            <a:r>
              <a:rPr dirty="0" sz="1100" spc="-2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Modules</a:t>
            </a:r>
            <a:endParaRPr sz="1100">
              <a:latin typeface="Tahoma"/>
              <a:cs typeface="Tahoma"/>
            </a:endParaRPr>
          </a:p>
          <a:p>
            <a:pPr marL="287655" indent="-17526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7655" algn="l"/>
              </a:tabLst>
            </a:pP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Shop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endParaRPr sz="1100">
              <a:latin typeface="Arial"/>
              <a:cs typeface="Arial"/>
            </a:endParaRPr>
          </a:p>
          <a:p>
            <a:pPr marL="287655" indent="-175260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7655" algn="l"/>
              </a:tabLst>
            </a:pP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Order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endParaRPr sz="1100">
              <a:latin typeface="Arial"/>
              <a:cs typeface="Arial"/>
            </a:endParaRPr>
          </a:p>
          <a:p>
            <a:pPr marL="287655" indent="-17526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7655" algn="l"/>
              </a:tabLst>
            </a:pP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Delivery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Agent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endParaRPr sz="1100">
              <a:latin typeface="Arial"/>
              <a:cs typeface="Arial"/>
            </a:endParaRPr>
          </a:p>
          <a:p>
            <a:pPr marL="287655" indent="-17526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7655" algn="l"/>
              </a:tabLst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Storage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(MySQL)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2717" y="913419"/>
            <a:ext cx="2453640" cy="1936114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60" b="1">
                <a:solidFill>
                  <a:srgbClr val="133768"/>
                </a:solidFill>
                <a:latin typeface="Tahoma"/>
                <a:cs typeface="Tahoma"/>
              </a:rPr>
              <a:t>Functional</a:t>
            </a:r>
            <a:r>
              <a:rPr dirty="0" sz="1100" spc="3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Requirements</a:t>
            </a:r>
            <a:endParaRPr sz="1100">
              <a:latin typeface="Tahoma"/>
              <a:cs typeface="Tahoma"/>
            </a:endParaRPr>
          </a:p>
          <a:p>
            <a:pPr marL="314960" marR="15430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Shopkeeper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add,update,delete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product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stock</a:t>
            </a:r>
            <a:endParaRPr sz="1100">
              <a:latin typeface="Arial"/>
              <a:cs typeface="Arial"/>
            </a:endParaRPr>
          </a:p>
          <a:p>
            <a:pPr marL="314960" marR="1447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Customer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browse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products,compare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prices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place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orders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Delivery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agent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register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assigned</a:t>
            </a:r>
            <a:r>
              <a:rPr dirty="0" sz="1100" spc="7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orders</a:t>
            </a:r>
            <a:endParaRPr sz="1100">
              <a:latin typeface="Arial"/>
              <a:cs typeface="Arial"/>
            </a:endParaRPr>
          </a:p>
          <a:p>
            <a:pPr marL="314960" marR="200660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5" i="1">
                <a:solidFill>
                  <a:srgbClr val="595959"/>
                </a:solidFill>
                <a:latin typeface="Arial"/>
                <a:cs typeface="Arial"/>
              </a:rPr>
              <a:t>saves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users,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products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orders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MySQL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9193" y="2911842"/>
            <a:ext cx="5142230" cy="198755"/>
          </a:xfrm>
          <a:custGeom>
            <a:avLst/>
            <a:gdLst/>
            <a:ahLst/>
            <a:cxnLst/>
            <a:rect l="l" t="t" r="r" b="b"/>
            <a:pathLst>
              <a:path w="5142230" h="198755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141666" y="198367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7294" y="2890847"/>
            <a:ext cx="503745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Module</a:t>
            </a:r>
            <a:r>
              <a:rPr dirty="0" sz="1200" spc="2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Dependency:Shop</a:t>
            </a:r>
            <a:r>
              <a:rPr dirty="0" sz="1200" spc="-10">
                <a:solidFill>
                  <a:srgbClr val="133768"/>
                </a:solidFill>
                <a:latin typeface="Arial"/>
                <a:cs typeface="Arial"/>
              </a:rPr>
              <a:t>→</a:t>
            </a:r>
            <a:r>
              <a:rPr dirty="0" sz="1200" spc="3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133768"/>
                </a:solidFill>
                <a:latin typeface="Gill Sans MT"/>
                <a:cs typeface="Gill Sans MT"/>
              </a:rPr>
              <a:t>Order</a:t>
            </a:r>
            <a:r>
              <a:rPr dirty="0" sz="1200" spc="-55">
                <a:solidFill>
                  <a:srgbClr val="133768"/>
                </a:solidFill>
                <a:latin typeface="Arial"/>
                <a:cs typeface="Arial"/>
              </a:rPr>
              <a:t>→</a:t>
            </a:r>
            <a:r>
              <a:rPr dirty="0" sz="1200" spc="3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Delivery</a:t>
            </a:r>
            <a:r>
              <a:rPr dirty="0" sz="1200" spc="3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Agent,with</a:t>
            </a:r>
            <a:r>
              <a:rPr dirty="0" sz="1200" spc="3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data</a:t>
            </a:r>
            <a:r>
              <a:rPr dirty="0" sz="1200" spc="2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saved</a:t>
            </a:r>
            <a:r>
              <a:rPr dirty="0" sz="1200" spc="3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in</a:t>
            </a:r>
            <a:r>
              <a:rPr dirty="0" sz="1200" spc="3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MySQL.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9193" y="3097555"/>
            <a:ext cx="5142230" cy="114300"/>
            <a:chOff x="309193" y="3097555"/>
            <a:chExt cx="5142230" cy="1143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3097555"/>
              <a:ext cx="5141666" cy="506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9193" y="3141844"/>
              <a:ext cx="5142230" cy="69850"/>
            </a:xfrm>
            <a:custGeom>
              <a:avLst/>
              <a:gdLst/>
              <a:ahLst/>
              <a:cxnLst/>
              <a:rect l="l" t="t" r="r" b="b"/>
              <a:pathLst>
                <a:path w="5142230" h="69850">
                  <a:moveTo>
                    <a:pt x="5141666" y="0"/>
                  </a:moveTo>
                  <a:lnTo>
                    <a:pt x="0" y="0"/>
                  </a:lnTo>
                  <a:lnTo>
                    <a:pt x="0" y="18931"/>
                  </a:lnTo>
                  <a:lnTo>
                    <a:pt x="4008" y="38656"/>
                  </a:lnTo>
                  <a:lnTo>
                    <a:pt x="14922" y="54809"/>
                  </a:lnTo>
                  <a:lnTo>
                    <a:pt x="31075" y="65723"/>
                  </a:lnTo>
                  <a:lnTo>
                    <a:pt x="50800" y="69732"/>
                  </a:lnTo>
                  <a:lnTo>
                    <a:pt x="5090865" y="69732"/>
                  </a:lnTo>
                  <a:lnTo>
                    <a:pt x="5110590" y="65723"/>
                  </a:lnTo>
                  <a:lnTo>
                    <a:pt x="5126743" y="54809"/>
                  </a:lnTo>
                  <a:lnTo>
                    <a:pt x="5137657" y="38656"/>
                  </a:lnTo>
                  <a:lnTo>
                    <a:pt x="5141666" y="1893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14</a:t>
            </a:fld>
            <a:r>
              <a:rPr dirty="0" spc="-10"/>
              <a:t>/15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0"/>
              <a:t>Technology</a:t>
            </a:r>
            <a:r>
              <a:rPr dirty="0" spc="20"/>
              <a:t> </a:t>
            </a:r>
            <a:r>
              <a:rPr dirty="0" spc="-10"/>
              <a:t>Stack</a:t>
            </a:r>
            <a:r>
              <a:rPr dirty="0" spc="25"/>
              <a:t> </a:t>
            </a:r>
            <a:r>
              <a:rPr dirty="0" spc="85"/>
              <a:t>&amp;</a:t>
            </a:r>
            <a:r>
              <a:rPr dirty="0" spc="20"/>
              <a:t> </a:t>
            </a:r>
            <a:r>
              <a:rPr dirty="0" spc="-60"/>
              <a:t>Development</a:t>
            </a:r>
            <a:r>
              <a:rPr dirty="0" spc="25"/>
              <a:t> </a:t>
            </a:r>
            <a:r>
              <a:rPr dirty="0" spc="-45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193" y="1163573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7294" y="1142578"/>
            <a:ext cx="11207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Technology</a:t>
            </a:r>
            <a:r>
              <a:rPr dirty="0" sz="1200" spc="-3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Stack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0016" y="1163573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968117" y="1142578"/>
            <a:ext cx="16878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">
                <a:solidFill>
                  <a:srgbClr val="133768"/>
                </a:solidFill>
                <a:latin typeface="Gill Sans MT"/>
                <a:cs typeface="Gill Sans MT"/>
              </a:rPr>
              <a:t>Development</a:t>
            </a:r>
            <a:r>
              <a:rPr dirty="0" sz="1200" spc="1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Methodology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349286"/>
            <a:ext cx="2520950" cy="1206500"/>
            <a:chOff x="309193" y="1349286"/>
            <a:chExt cx="2520950" cy="1206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49286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393559"/>
              <a:ext cx="2520950" cy="1162685"/>
            </a:xfrm>
            <a:custGeom>
              <a:avLst/>
              <a:gdLst/>
              <a:ahLst/>
              <a:cxnLst/>
              <a:rect l="l" t="t" r="r" b="b"/>
              <a:pathLst>
                <a:path w="2520950" h="1162685">
                  <a:moveTo>
                    <a:pt x="2520810" y="0"/>
                  </a:moveTo>
                  <a:lnTo>
                    <a:pt x="0" y="0"/>
                  </a:lnTo>
                  <a:lnTo>
                    <a:pt x="0" y="1111388"/>
                  </a:lnTo>
                  <a:lnTo>
                    <a:pt x="4008" y="1131113"/>
                  </a:lnTo>
                  <a:lnTo>
                    <a:pt x="14922" y="1147266"/>
                  </a:lnTo>
                  <a:lnTo>
                    <a:pt x="31075" y="1158180"/>
                  </a:lnTo>
                  <a:lnTo>
                    <a:pt x="50800" y="1162188"/>
                  </a:lnTo>
                  <a:lnTo>
                    <a:pt x="2470010" y="1162188"/>
                  </a:lnTo>
                  <a:lnTo>
                    <a:pt x="2489735" y="1158180"/>
                  </a:lnTo>
                  <a:lnTo>
                    <a:pt x="2505888" y="1147266"/>
                  </a:lnTo>
                  <a:lnTo>
                    <a:pt x="2516802" y="1131113"/>
                  </a:lnTo>
                  <a:lnTo>
                    <a:pt x="2520810" y="111138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21957" y="1332710"/>
            <a:ext cx="2230755" cy="118491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35">
                <a:latin typeface="Microsoft Sans Serif"/>
                <a:cs typeface="Microsoft Sans Serif"/>
              </a:rPr>
              <a:t>Programming:</a:t>
            </a:r>
            <a:r>
              <a:rPr dirty="0" sz="1100" spc="120">
                <a:latin typeface="Microsoft Sans Serif"/>
                <a:cs typeface="Microsoft Sans Serif"/>
              </a:rPr>
              <a:t> </a:t>
            </a:r>
            <a:r>
              <a:rPr dirty="0" sz="1100" spc="75" i="1">
                <a:solidFill>
                  <a:srgbClr val="595959"/>
                </a:solidFill>
                <a:latin typeface="Arial"/>
                <a:cs typeface="Arial"/>
              </a:rPr>
              <a:t>C++</a:t>
            </a:r>
            <a:endParaRPr sz="110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45">
                <a:latin typeface="Microsoft Sans Serif"/>
                <a:cs typeface="Microsoft Sans Serif"/>
              </a:rPr>
              <a:t>Database:</a:t>
            </a:r>
            <a:r>
              <a:rPr dirty="0" sz="1100" spc="85">
                <a:latin typeface="Microsoft Sans Serif"/>
                <a:cs typeface="Microsoft Sans Serif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MySQL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50">
                <a:latin typeface="Microsoft Sans Serif"/>
                <a:cs typeface="Microsoft Sans Serif"/>
              </a:rPr>
              <a:t>Framework: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None(Console app),XAMPP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used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to run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MySQL</a:t>
            </a:r>
            <a:endParaRPr sz="110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50">
                <a:latin typeface="Microsoft Sans Serif"/>
                <a:cs typeface="Microsoft Sans Serif"/>
              </a:rPr>
              <a:t>Development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Tool: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Vs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endParaRPr sz="110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45">
                <a:latin typeface="Microsoft Sans Serif"/>
                <a:cs typeface="Microsoft Sans Serif"/>
              </a:rPr>
              <a:t>Version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Control:</a:t>
            </a:r>
            <a:r>
              <a:rPr dirty="0" sz="1100" spc="114">
                <a:latin typeface="Microsoft Sans Serif"/>
                <a:cs typeface="Microsoft Sans Serif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Git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GitHub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30016" y="1349286"/>
            <a:ext cx="2520950" cy="1516380"/>
            <a:chOff x="2930016" y="1349286"/>
            <a:chExt cx="2520950" cy="15163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349286"/>
              <a:ext cx="252081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30016" y="1393553"/>
              <a:ext cx="2520950" cy="1471930"/>
            </a:xfrm>
            <a:custGeom>
              <a:avLst/>
              <a:gdLst/>
              <a:ahLst/>
              <a:cxnLst/>
              <a:rect l="l" t="t" r="r" b="b"/>
              <a:pathLst>
                <a:path w="2520950" h="1471930">
                  <a:moveTo>
                    <a:pt x="2520810" y="0"/>
                  </a:moveTo>
                  <a:lnTo>
                    <a:pt x="0" y="0"/>
                  </a:lnTo>
                  <a:lnTo>
                    <a:pt x="0" y="1420905"/>
                  </a:lnTo>
                  <a:lnTo>
                    <a:pt x="4008" y="1440630"/>
                  </a:lnTo>
                  <a:lnTo>
                    <a:pt x="14922" y="1456783"/>
                  </a:lnTo>
                  <a:lnTo>
                    <a:pt x="31075" y="1467697"/>
                  </a:lnTo>
                  <a:lnTo>
                    <a:pt x="50800" y="1471706"/>
                  </a:lnTo>
                  <a:lnTo>
                    <a:pt x="2470010" y="1471706"/>
                  </a:lnTo>
                  <a:lnTo>
                    <a:pt x="2489735" y="1467697"/>
                  </a:lnTo>
                  <a:lnTo>
                    <a:pt x="2505888" y="1456783"/>
                  </a:lnTo>
                  <a:lnTo>
                    <a:pt x="2516802" y="1440630"/>
                  </a:lnTo>
                  <a:lnTo>
                    <a:pt x="2520810" y="1420905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68180" y="1363838"/>
            <a:ext cx="2222500" cy="14979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87325" marR="245110" indent="-175260">
              <a:lnSpc>
                <a:spcPct val="102600"/>
              </a:lnSpc>
              <a:spcBef>
                <a:spcPts val="55"/>
              </a:spcBef>
              <a:buClr>
                <a:srgbClr val="133768"/>
              </a:buClr>
              <a:buAutoNum type="arabicPeriod"/>
              <a:tabLst>
                <a:tab pos="189230" algn="l"/>
              </a:tabLst>
            </a:pPr>
            <a:r>
              <a:rPr dirty="0" sz="1100" spc="-50">
                <a:latin typeface="Microsoft Sans Serif"/>
                <a:cs typeface="Microsoft Sans Serif"/>
              </a:rPr>
              <a:t>Requirement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Analysis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:Done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in </a:t>
            </a:r>
            <a:r>
              <a:rPr dirty="0" sz="1100" spc="-25">
                <a:latin typeface="Microsoft Sans Serif"/>
                <a:cs typeface="Microsoft Sans Serif"/>
              </a:rPr>
              <a:t>	</a:t>
            </a:r>
            <a:r>
              <a:rPr dirty="0" sz="1100" spc="-80">
                <a:latin typeface="Microsoft Sans Serif"/>
                <a:cs typeface="Microsoft Sans Serif"/>
              </a:rPr>
              <a:t>phase-</a:t>
            </a:r>
            <a:r>
              <a:rPr dirty="0" sz="1100" spc="-50">
                <a:latin typeface="Microsoft Sans Serif"/>
                <a:cs typeface="Microsoft Sans Serif"/>
              </a:rPr>
              <a:t>I</a:t>
            </a:r>
            <a:endParaRPr sz="1100">
              <a:latin typeface="Microsoft Sans Serif"/>
              <a:cs typeface="Microsoft Sans Serif"/>
            </a:endParaRPr>
          </a:p>
          <a:p>
            <a:pPr marL="187960" indent="-17526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87960" algn="l"/>
              </a:tabLst>
            </a:pPr>
            <a:r>
              <a:rPr dirty="0" sz="1100" spc="-55">
                <a:latin typeface="Microsoft Sans Serif"/>
                <a:cs typeface="Microsoft Sans Serif"/>
              </a:rPr>
              <a:t>System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55">
                <a:latin typeface="Microsoft Sans Serif"/>
                <a:cs typeface="Microsoft Sans Serif"/>
              </a:rPr>
              <a:t>Design:Done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75">
                <a:latin typeface="Microsoft Sans Serif"/>
                <a:cs typeface="Microsoft Sans Serif"/>
              </a:rPr>
              <a:t>Phase-</a:t>
            </a:r>
            <a:r>
              <a:rPr dirty="0" sz="1100" spc="-50">
                <a:latin typeface="Microsoft Sans Serif"/>
                <a:cs typeface="Microsoft Sans Serif"/>
              </a:rPr>
              <a:t>I</a:t>
            </a:r>
            <a:endParaRPr sz="1100">
              <a:latin typeface="Microsoft Sans Serif"/>
              <a:cs typeface="Microsoft Sans Serif"/>
            </a:endParaRPr>
          </a:p>
          <a:p>
            <a:pPr marL="187325" marR="5080" indent="-175260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AutoNum type="arabicPeriod"/>
              <a:tabLst>
                <a:tab pos="189230" algn="l"/>
              </a:tabLst>
            </a:pPr>
            <a:r>
              <a:rPr dirty="0" sz="1100" spc="-25">
                <a:latin typeface="Microsoft Sans Serif"/>
                <a:cs typeface="Microsoft Sans Serif"/>
              </a:rPr>
              <a:t>Module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 spc="-40">
                <a:latin typeface="Microsoft Sans Serif"/>
                <a:cs typeface="Microsoft Sans Serif"/>
              </a:rPr>
              <a:t>Development:Mostly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 spc="-55">
                <a:latin typeface="Microsoft Sans Serif"/>
                <a:cs typeface="Microsoft Sans Serif"/>
              </a:rPr>
              <a:t>done, </a:t>
            </a:r>
            <a:r>
              <a:rPr dirty="0" sz="1100" spc="-55">
                <a:latin typeface="Microsoft Sans Serif"/>
                <a:cs typeface="Microsoft Sans Serif"/>
              </a:rPr>
              <a:t>	</a:t>
            </a:r>
            <a:r>
              <a:rPr dirty="0" sz="1100">
                <a:latin typeface="Microsoft Sans Serif"/>
                <a:cs typeface="Microsoft Sans Serif"/>
              </a:rPr>
              <a:t>in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progress</a:t>
            </a:r>
            <a:endParaRPr sz="1100">
              <a:latin typeface="Microsoft Sans Serif"/>
              <a:cs typeface="Microsoft Sans Serif"/>
            </a:endParaRPr>
          </a:p>
          <a:p>
            <a:pPr marL="187960" indent="-175260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AutoNum type="arabicPeriod"/>
              <a:tabLst>
                <a:tab pos="187960" algn="l"/>
              </a:tabLst>
            </a:pPr>
            <a:r>
              <a:rPr dirty="0" sz="1100" spc="-10">
                <a:latin typeface="Microsoft Sans Serif"/>
                <a:cs typeface="Microsoft Sans Serif"/>
              </a:rPr>
              <a:t>Integration:Pending</a:t>
            </a:r>
            <a:endParaRPr sz="1100">
              <a:latin typeface="Microsoft Sans Serif"/>
              <a:cs typeface="Microsoft Sans Serif"/>
            </a:endParaRPr>
          </a:p>
          <a:p>
            <a:pPr marL="187325" marR="128270" indent="-175260">
              <a:lnSpc>
                <a:spcPct val="102699"/>
              </a:lnSpc>
              <a:spcBef>
                <a:spcPts val="195"/>
              </a:spcBef>
              <a:buClr>
                <a:srgbClr val="133768"/>
              </a:buClr>
              <a:buAutoNum type="arabicPeriod"/>
              <a:tabLst>
                <a:tab pos="189230" algn="l"/>
              </a:tabLst>
            </a:pPr>
            <a:r>
              <a:rPr dirty="0" sz="1100" spc="-35">
                <a:latin typeface="Microsoft Sans Serif"/>
                <a:cs typeface="Microsoft Sans Serif"/>
              </a:rPr>
              <a:t>Testing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85">
                <a:latin typeface="Microsoft Sans Serif"/>
                <a:cs typeface="Microsoft Sans Serif"/>
              </a:rPr>
              <a:t>&amp;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Validation:4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5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-35">
                <a:latin typeface="Microsoft Sans Serif"/>
                <a:cs typeface="Microsoft Sans Serif"/>
              </a:rPr>
              <a:t>tests </a:t>
            </a:r>
            <a:r>
              <a:rPr dirty="0" sz="1100" spc="-35">
                <a:latin typeface="Microsoft Sans Serif"/>
                <a:cs typeface="Microsoft Sans Serif"/>
              </a:rPr>
              <a:t>	</a:t>
            </a:r>
            <a:r>
              <a:rPr dirty="0" sz="1100" spc="-20">
                <a:latin typeface="Microsoft Sans Serif"/>
                <a:cs typeface="Microsoft Sans Serif"/>
              </a:rPr>
              <a:t>done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14</a:t>
            </a:fld>
            <a:r>
              <a:rPr dirty="0" spc="-10"/>
              <a:t>/15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302841"/>
            <a:ext cx="346011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85" b="1">
                <a:solidFill>
                  <a:srgbClr val="133768"/>
                </a:solidFill>
                <a:latin typeface="Tahoma"/>
                <a:cs typeface="Tahoma"/>
              </a:rPr>
              <a:t>Implementation</a:t>
            </a:r>
            <a:r>
              <a:rPr dirty="0" sz="1400" spc="3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133768"/>
                </a:solidFill>
                <a:latin typeface="Tahoma"/>
                <a:cs typeface="Tahoma"/>
              </a:rPr>
              <a:t>of</a:t>
            </a:r>
            <a:r>
              <a:rPr dirty="0" sz="1400" spc="3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400" spc="60" b="1">
                <a:solidFill>
                  <a:srgbClr val="133768"/>
                </a:solidFill>
                <a:latin typeface="Tahoma"/>
                <a:cs typeface="Tahoma"/>
              </a:rPr>
              <a:t>PBL</a:t>
            </a:r>
            <a:r>
              <a:rPr dirty="0" sz="1400" spc="3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400" spc="-50" b="1">
                <a:solidFill>
                  <a:srgbClr val="133768"/>
                </a:solidFill>
                <a:latin typeface="Tahoma"/>
                <a:cs typeface="Tahoma"/>
              </a:rPr>
              <a:t>Course</a:t>
            </a:r>
            <a:r>
              <a:rPr dirty="0" sz="1400" spc="3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400" spc="-35" b="1">
                <a:solidFill>
                  <a:srgbClr val="133768"/>
                </a:solidFill>
                <a:latin typeface="Tahoma"/>
                <a:cs typeface="Tahoma"/>
              </a:rPr>
              <a:t>Concepts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60781" y="1093546"/>
          <a:ext cx="4924425" cy="120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/>
                <a:gridCol w="2311399"/>
                <a:gridCol w="1435735"/>
              </a:tblGrid>
              <a:tr h="223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800" spc="-10" b="1">
                          <a:latin typeface="Tahoma"/>
                          <a:cs typeface="Tahoma"/>
                        </a:rPr>
                        <a:t>Course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4889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800" spc="-20">
                          <a:latin typeface="Arial"/>
                          <a:cs typeface="Arial"/>
                        </a:rPr>
                        <a:t>Concepts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Actually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Implemented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780" marR="317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Project</a:t>
                      </a:r>
                      <a:r>
                        <a:rPr dirty="0" sz="8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Module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800" spc="-10" b="1"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800" spc="-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Structures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C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4699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Linked</a:t>
                      </a:r>
                      <a:r>
                        <a:rPr dirty="0" sz="800" spc="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Lists,</a:t>
                      </a:r>
                      <a:r>
                        <a:rPr dirty="0" sz="800" spc="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queue,</a:t>
                      </a:r>
                      <a:r>
                        <a:rPr dirty="0" sz="800" spc="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Hashing,</a:t>
                      </a:r>
                      <a:r>
                        <a:rPr dirty="0" sz="800" spc="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sorting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525780" indent="-635">
                        <a:lnSpc>
                          <a:spcPts val="950"/>
                        </a:lnSpc>
                        <a:spcBef>
                          <a:spcPts val="409"/>
                        </a:spcBef>
                      </a:pP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Shop</a:t>
                      </a:r>
                      <a:r>
                        <a:rPr dirty="0" sz="800" spc="28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800" spc="29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order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management </a:t>
                      </a:r>
                      <a:r>
                        <a:rPr dirty="0" sz="800" spc="-2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mod-</a:t>
                      </a:r>
                      <a:r>
                        <a:rPr dirty="0" sz="800" spc="-2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ule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OOPs</a:t>
                      </a:r>
                      <a:r>
                        <a:rPr dirty="0" sz="800" spc="2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5" b="1"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800" spc="3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 b="1">
                          <a:latin typeface="Tahoma"/>
                          <a:cs typeface="Tahoma"/>
                        </a:rPr>
                        <a:t>C++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dirty="0" sz="800" spc="-4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Classes,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objects,</a:t>
                      </a:r>
                      <a:r>
                        <a:rPr dirty="0" sz="800" spc="-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Inheritance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145" marR="3175">
                        <a:lnSpc>
                          <a:spcPct val="100000"/>
                        </a:lnSpc>
                      </a:pP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dirty="0" sz="800" spc="13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modules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4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800" spc="-20" b="1">
                          <a:latin typeface="Tahoma"/>
                          <a:cs typeface="Tahoma"/>
                        </a:rPr>
                        <a:t>DBMS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001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SQL</a:t>
                      </a:r>
                      <a:r>
                        <a:rPr dirty="0" sz="800" spc="-2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tables,</a:t>
                      </a:r>
                      <a:r>
                        <a:rPr dirty="0" sz="800" spc="-2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MySQL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25145" marR="3175">
                        <a:lnSpc>
                          <a:spcPct val="100000"/>
                        </a:lnSpc>
                      </a:pP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800" spc="7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06501" y="2609773"/>
            <a:ext cx="4547235" cy="196215"/>
          </a:xfrm>
          <a:custGeom>
            <a:avLst/>
            <a:gdLst/>
            <a:ahLst/>
            <a:cxnLst/>
            <a:rect l="l" t="t" r="r" b="b"/>
            <a:pathLst>
              <a:path w="4547235" h="196214">
                <a:moveTo>
                  <a:pt x="4546993" y="0"/>
                </a:moveTo>
                <a:lnTo>
                  <a:pt x="0" y="0"/>
                </a:lnTo>
                <a:lnTo>
                  <a:pt x="0" y="196113"/>
                </a:lnTo>
                <a:lnTo>
                  <a:pt x="4546993" y="196113"/>
                </a:lnTo>
                <a:lnTo>
                  <a:pt x="4546993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14</a:t>
            </a:fld>
            <a:r>
              <a:rPr dirty="0" spc="-10"/>
              <a:t>/15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49186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0"/>
              <a:t>Development</a:t>
            </a:r>
            <a:r>
              <a:rPr dirty="0" spc="60"/>
              <a:t> </a:t>
            </a:r>
            <a:r>
              <a:rPr dirty="0" spc="85"/>
              <a:t>&amp;</a:t>
            </a:r>
            <a:r>
              <a:rPr dirty="0" spc="65"/>
              <a:t> </a:t>
            </a:r>
            <a:r>
              <a:rPr dirty="0" spc="-85"/>
              <a:t>Implementation</a:t>
            </a:r>
            <a:r>
              <a:rPr dirty="0" spc="65"/>
              <a:t> </a:t>
            </a:r>
            <a:r>
              <a:rPr dirty="0" spc="-55"/>
              <a:t>Progress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0781" y="992974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8081" y="1029790"/>
            <a:ext cx="3746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30" b="1">
                <a:latin typeface="Tahoma"/>
                <a:cs typeface="Tahoma"/>
              </a:rPr>
              <a:t>Module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9770" y="1029790"/>
            <a:ext cx="3225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40" b="1">
                <a:latin typeface="Tahoma"/>
                <a:cs typeface="Tahoma"/>
              </a:rPr>
              <a:t>Status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0781" y="1216875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8081" y="1251621"/>
            <a:ext cx="8597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Shop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0174" y="1251621"/>
            <a:ext cx="5048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Completed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3871" y="1029790"/>
            <a:ext cx="851535" cy="368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latin typeface="Tahoma"/>
                <a:cs typeface="Tahoma"/>
              </a:rPr>
              <a:t>Work</a:t>
            </a:r>
            <a:r>
              <a:rPr dirty="0" sz="800" spc="10" b="1">
                <a:latin typeface="Tahoma"/>
                <a:cs typeface="Tahoma"/>
              </a:rPr>
              <a:t> </a:t>
            </a:r>
            <a:r>
              <a:rPr dirty="0" sz="800" spc="-10" b="1">
                <a:latin typeface="Tahoma"/>
                <a:cs typeface="Tahoma"/>
              </a:rPr>
              <a:t>Completed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  <a:tabLst>
                <a:tab pos="675005" algn="l"/>
              </a:tabLst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Product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52346" y="1251621"/>
            <a:ext cx="2317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shop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61221" y="1251621"/>
            <a:ext cx="5562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classes,hash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94689" y="1251621"/>
            <a:ext cx="2184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map</a:t>
            </a:r>
            <a:endParaRPr sz="80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60781" y="1408706"/>
          <a:ext cx="4924425" cy="1082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6330"/>
                <a:gridCol w="838200"/>
                <a:gridCol w="2893695"/>
              </a:tblGrid>
              <a:tr h="1257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0979" marR="3175">
                        <a:lnSpc>
                          <a:spcPts val="765"/>
                        </a:lnSpc>
                      </a:pP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lookup,add/update/delete/view</a:t>
                      </a:r>
                      <a:r>
                        <a:rPr dirty="0" sz="800" spc="27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stock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90525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</a:pP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Order</a:t>
                      </a:r>
                      <a:r>
                        <a:rPr dirty="0" sz="800" spc="1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955"/>
                        </a:lnSpc>
                      </a:pPr>
                      <a:r>
                        <a:rPr dirty="0" sz="8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progress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just" marL="220979" marR="3175">
                        <a:lnSpc>
                          <a:spcPts val="950"/>
                        </a:lnSpc>
                        <a:spcBef>
                          <a:spcPts val="35"/>
                        </a:spcBef>
                      </a:pP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Customer </a:t>
                      </a:r>
                      <a:r>
                        <a:rPr dirty="0" sz="800" spc="-2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browse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800" spc="-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place order,price comparison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800" spc="-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sort-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ing,order </a:t>
                      </a:r>
                      <a:r>
                        <a:rPr dirty="0" sz="800" spc="-3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queue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and linked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list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status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flow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done;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order track-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ing</a:t>
                      </a:r>
                      <a:r>
                        <a:rPr dirty="0" sz="800" spc="3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pending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445"/>
                </a:tc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</a:pP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Delivery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agent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955"/>
                        </a:lnSpc>
                      </a:pPr>
                      <a:r>
                        <a:rPr dirty="0" sz="8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Progress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0979" marR="3175">
                        <a:lnSpc>
                          <a:spcPts val="950"/>
                        </a:lnSpc>
                        <a:spcBef>
                          <a:spcPts val="35"/>
                        </a:spcBef>
                      </a:pP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User</a:t>
                      </a:r>
                      <a:r>
                        <a:rPr dirty="0" sz="800" spc="-2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3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base</a:t>
                      </a:r>
                      <a:r>
                        <a:rPr dirty="0" sz="800" spc="-2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class,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Delivery</a:t>
                      </a:r>
                      <a:r>
                        <a:rPr dirty="0" sz="800" spc="-2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agent</a:t>
                      </a:r>
                      <a:r>
                        <a:rPr dirty="0" sz="800" spc="-2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registration</a:t>
                      </a:r>
                      <a:r>
                        <a:rPr dirty="0" sz="800" spc="-2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800" spc="-2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viewing</a:t>
                      </a:r>
                      <a:r>
                        <a:rPr dirty="0" sz="800" spc="-2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as-signed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order</a:t>
                      </a:r>
                      <a:r>
                        <a:rPr dirty="0" sz="800" spc="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done;</a:t>
                      </a:r>
                      <a:r>
                        <a:rPr dirty="0" sz="800" spc="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nearest</a:t>
                      </a:r>
                      <a:r>
                        <a:rPr dirty="0" sz="800" spc="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agent</a:t>
                      </a:r>
                      <a:r>
                        <a:rPr dirty="0" sz="800" spc="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assignment</a:t>
                      </a:r>
                      <a:r>
                        <a:rPr dirty="0" sz="800" spc="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pending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445"/>
                </a:tc>
              </a:tr>
              <a:tr h="295910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</a:pP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800" spc="7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storage(MySQL)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955"/>
                        </a:lnSpc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Completed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0979" indent="-635">
                        <a:lnSpc>
                          <a:spcPts val="950"/>
                        </a:lnSpc>
                        <a:spcBef>
                          <a:spcPts val="35"/>
                        </a:spcBef>
                      </a:pP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Tables</a:t>
                      </a:r>
                      <a:r>
                        <a:rPr dirty="0" sz="800" spc="39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800" spc="39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users,products</a:t>
                      </a:r>
                      <a:r>
                        <a:rPr dirty="0" sz="800" spc="39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800" spc="39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order</a:t>
                      </a:r>
                      <a:r>
                        <a:rPr dirty="0" sz="800" spc="4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created</a:t>
                      </a:r>
                      <a:r>
                        <a:rPr dirty="0" sz="800" spc="39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through </a:t>
                      </a:r>
                      <a:r>
                        <a:rPr dirty="0" sz="80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XAMPP;</a:t>
                      </a:r>
                      <a:r>
                        <a:rPr dirty="0" sz="800" spc="9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14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C++</a:t>
                      </a:r>
                      <a:r>
                        <a:rPr dirty="0" sz="800" spc="9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connection</a:t>
                      </a:r>
                      <a:r>
                        <a:rPr dirty="0" sz="800" spc="95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working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186129" y="2764815"/>
            <a:ext cx="3388360" cy="172085"/>
          </a:xfrm>
          <a:prstGeom prst="rect">
            <a:avLst/>
          </a:prstGeom>
          <a:solidFill>
            <a:srgbClr val="EDF3FA"/>
          </a:solidFill>
        </p:spPr>
        <p:txBody>
          <a:bodyPr wrap="square" lIns="0" tIns="12065" rIns="0" bIns="0" rtlCol="0" vert="horz">
            <a:spAutoFit/>
          </a:bodyPr>
          <a:lstStyle/>
          <a:p>
            <a:pPr marL="923925">
              <a:lnSpc>
                <a:spcPct val="100000"/>
              </a:lnSpc>
              <a:spcBef>
                <a:spcPts val="95"/>
              </a:spcBef>
            </a:pPr>
            <a:r>
              <a:rPr dirty="0" sz="800" spc="-40" b="1">
                <a:latin typeface="Tahoma"/>
                <a:cs typeface="Tahoma"/>
              </a:rPr>
              <a:t>Overall</a:t>
            </a:r>
            <a:r>
              <a:rPr dirty="0" sz="800" spc="10" b="1">
                <a:latin typeface="Tahoma"/>
                <a:cs typeface="Tahoma"/>
              </a:rPr>
              <a:t> </a:t>
            </a:r>
            <a:r>
              <a:rPr dirty="0" sz="800" spc="-30" b="1">
                <a:latin typeface="Tahoma"/>
                <a:cs typeface="Tahoma"/>
              </a:rPr>
              <a:t>Project</a:t>
            </a:r>
            <a:r>
              <a:rPr dirty="0" sz="800" spc="15" b="1">
                <a:latin typeface="Tahoma"/>
                <a:cs typeface="Tahoma"/>
              </a:rPr>
              <a:t> </a:t>
            </a:r>
            <a:r>
              <a:rPr dirty="0" sz="800" spc="-40" b="1">
                <a:latin typeface="Tahoma"/>
                <a:cs typeface="Tahoma"/>
              </a:rPr>
              <a:t>Completion:</a:t>
            </a:r>
            <a:r>
              <a:rPr dirty="0" sz="800" spc="90" b="1">
                <a:latin typeface="Tahoma"/>
                <a:cs typeface="Tahoma"/>
              </a:rPr>
              <a:t>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60%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14</a:t>
            </a:fld>
            <a:r>
              <a:rPr dirty="0" spc="-10"/>
              <a:t>/15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5"/>
              <a:t>Working</a:t>
            </a:r>
            <a:r>
              <a:rPr dirty="0" spc="25"/>
              <a:t> </a:t>
            </a:r>
            <a:r>
              <a:rPr dirty="0" spc="-40"/>
              <a:t>Prototype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60"/>
              <a:t>Demonstration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1012149"/>
            <a:ext cx="2335530" cy="176403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90" b="1">
                <a:solidFill>
                  <a:srgbClr val="133768"/>
                </a:solidFill>
                <a:latin typeface="Tahoma"/>
                <a:cs typeface="Tahoma"/>
              </a:rPr>
              <a:t>Implemented</a:t>
            </a:r>
            <a:r>
              <a:rPr dirty="0" sz="1100" spc="2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Features</a:t>
            </a:r>
            <a:endParaRPr sz="110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Shopkeeper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adds,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updates,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deletes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views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stock</a:t>
            </a:r>
            <a:endParaRPr sz="1100">
              <a:latin typeface="Arial"/>
              <a:cs typeface="Arial"/>
            </a:endParaRPr>
          </a:p>
          <a:p>
            <a:pPr marL="314960" marR="17335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Customer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90" i="1">
                <a:solidFill>
                  <a:srgbClr val="595959"/>
                </a:solidFill>
                <a:latin typeface="Arial"/>
                <a:cs typeface="Arial"/>
              </a:rPr>
              <a:t>browses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products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places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order</a:t>
            </a:r>
            <a:endParaRPr sz="1100">
              <a:latin typeface="Arial"/>
              <a:cs typeface="Arial"/>
            </a:endParaRPr>
          </a:p>
          <a:p>
            <a:pPr marL="314960" marR="280670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100" i="1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product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shown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cheapest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shop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first</a:t>
            </a:r>
            <a:endParaRPr sz="1100">
              <a:latin typeface="Arial"/>
              <a:cs typeface="Arial"/>
            </a:endParaRPr>
          </a:p>
          <a:p>
            <a:pPr marL="314960" marR="5270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Delivery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agent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registers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views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assigned</a:t>
            </a:r>
            <a:r>
              <a:rPr dirty="0" sz="1100" spc="7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orders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78822" y="1199578"/>
            <a:ext cx="2672080" cy="215265"/>
          </a:xfrm>
          <a:custGeom>
            <a:avLst/>
            <a:gdLst/>
            <a:ahLst/>
            <a:cxnLst/>
            <a:rect l="l" t="t" r="r" b="b"/>
            <a:pathLst>
              <a:path w="2672079" h="215265">
                <a:moveTo>
                  <a:pt x="262120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2672006" y="215238"/>
                </a:lnTo>
                <a:lnTo>
                  <a:pt x="2672006" y="50800"/>
                </a:lnTo>
                <a:lnTo>
                  <a:pt x="2667998" y="31075"/>
                </a:lnTo>
                <a:lnTo>
                  <a:pt x="2657083" y="14922"/>
                </a:lnTo>
                <a:lnTo>
                  <a:pt x="2640930" y="4008"/>
                </a:lnTo>
                <a:lnTo>
                  <a:pt x="262120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16923" y="1187015"/>
            <a:ext cx="12566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Prototype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245">
                <a:solidFill>
                  <a:srgbClr val="133768"/>
                </a:solidFill>
                <a:latin typeface="Gill Sans MT"/>
                <a:cs typeface="Gill Sans MT"/>
              </a:rPr>
              <a:t>/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 Output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78822" y="1402156"/>
            <a:ext cx="2672080" cy="966469"/>
            <a:chOff x="2778822" y="1402156"/>
            <a:chExt cx="2672080" cy="96646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8822" y="1402156"/>
              <a:ext cx="2672006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78822" y="1446430"/>
              <a:ext cx="2672080" cy="922019"/>
            </a:xfrm>
            <a:custGeom>
              <a:avLst/>
              <a:gdLst/>
              <a:ahLst/>
              <a:cxnLst/>
              <a:rect l="l" t="t" r="r" b="b"/>
              <a:pathLst>
                <a:path w="2672079" h="922019">
                  <a:moveTo>
                    <a:pt x="2672006" y="0"/>
                  </a:moveTo>
                  <a:lnTo>
                    <a:pt x="0" y="0"/>
                  </a:lnTo>
                  <a:lnTo>
                    <a:pt x="0" y="870926"/>
                  </a:lnTo>
                  <a:lnTo>
                    <a:pt x="4008" y="890650"/>
                  </a:lnTo>
                  <a:lnTo>
                    <a:pt x="14922" y="906803"/>
                  </a:lnTo>
                  <a:lnTo>
                    <a:pt x="31075" y="917718"/>
                  </a:lnTo>
                  <a:lnTo>
                    <a:pt x="50800" y="921726"/>
                  </a:lnTo>
                  <a:lnTo>
                    <a:pt x="2621205" y="921726"/>
                  </a:lnTo>
                  <a:lnTo>
                    <a:pt x="2640930" y="917718"/>
                  </a:lnTo>
                  <a:lnTo>
                    <a:pt x="2657083" y="906803"/>
                  </a:lnTo>
                  <a:lnTo>
                    <a:pt x="2667998" y="890650"/>
                  </a:lnTo>
                  <a:lnTo>
                    <a:pt x="2672006" y="870926"/>
                  </a:lnTo>
                  <a:lnTo>
                    <a:pt x="267200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988551" y="1712415"/>
            <a:ext cx="225171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692150" marR="5080" indent="-680085">
              <a:lnSpc>
                <a:spcPct val="102600"/>
              </a:lnSpc>
              <a:spcBef>
                <a:spcPts val="55"/>
              </a:spcBef>
            </a:pP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Insert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screenshot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output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prototype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evidence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here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14</a:t>
            </a:fld>
            <a:r>
              <a:rPr dirty="0" spc="-10"/>
              <a:t>/15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Testing,</a:t>
            </a:r>
            <a:r>
              <a:rPr dirty="0" spc="20"/>
              <a:t> </a:t>
            </a:r>
            <a:r>
              <a:rPr dirty="0" spc="-55"/>
              <a:t>Results</a:t>
            </a:r>
            <a:r>
              <a:rPr dirty="0" spc="25"/>
              <a:t> </a:t>
            </a:r>
            <a:r>
              <a:rPr dirty="0" spc="85"/>
              <a:t>&amp;</a:t>
            </a:r>
            <a:r>
              <a:rPr dirty="0" spc="25"/>
              <a:t> </a:t>
            </a:r>
            <a:r>
              <a:rPr dirty="0" spc="-50"/>
              <a:t>Validation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0781" y="1019149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8081" y="1060181"/>
            <a:ext cx="6788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Arial"/>
                <a:cs typeface="Arial"/>
              </a:rPr>
              <a:t>Test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 spc="195">
                <a:latin typeface="Arial"/>
                <a:cs typeface="Arial"/>
              </a:rPr>
              <a:t>/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Module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5824" y="1060181"/>
            <a:ext cx="7505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Expected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Result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69483" y="1060181"/>
            <a:ext cx="7537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Arial"/>
                <a:cs typeface="Arial"/>
              </a:rPr>
              <a:t>Observed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Result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2940" y="1060181"/>
            <a:ext cx="3111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Status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0781" y="1249070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48081" y="1288019"/>
            <a:ext cx="7816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Price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comparison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5723" y="1288019"/>
            <a:ext cx="1587500" cy="4235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 indent="-635">
              <a:lnSpc>
                <a:spcPts val="950"/>
              </a:lnSpc>
              <a:spcBef>
                <a:spcPts val="135"/>
              </a:spcBef>
            </a:pPr>
            <a:r>
              <a:rPr dirty="0" sz="800" spc="-50" i="1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product</a:t>
            </a:r>
            <a:r>
              <a:rPr dirty="0" sz="8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shown</a:t>
            </a:r>
            <a:r>
              <a:rPr dirty="0" sz="8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cheapest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shop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first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Nearest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agent is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assigned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69221" y="1288019"/>
            <a:ext cx="13531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Sorted</a:t>
            </a:r>
            <a:r>
              <a:rPr dirty="0" sz="800" spc="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correctly,cheapest</a:t>
            </a:r>
            <a:r>
              <a:rPr dirty="0" sz="800" spc="5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first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82708" y="1288019"/>
            <a:ext cx="2254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"/>
                <a:cs typeface="Arial"/>
              </a:rPr>
              <a:t>Pass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8081" y="1564473"/>
            <a:ext cx="454025" cy="5435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60325">
              <a:lnSpc>
                <a:spcPts val="950"/>
              </a:lnSpc>
              <a:spcBef>
                <a:spcPts val="135"/>
              </a:spcBef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Delivery </a:t>
            </a:r>
            <a:r>
              <a:rPr dirty="0" sz="800" spc="-50" i="1">
                <a:solidFill>
                  <a:srgbClr val="595959"/>
                </a:solidFill>
                <a:latin typeface="Arial"/>
                <a:cs typeface="Arial"/>
              </a:rPr>
              <a:t>assigned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275"/>
              </a:spcBef>
            </a:pP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Customer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placing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6591" y="1564473"/>
            <a:ext cx="2736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agent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69665" y="1564473"/>
            <a:ext cx="14204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Not</a:t>
            </a:r>
            <a:r>
              <a:rPr dirty="0" sz="800" spc="8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tested,logic</a:t>
            </a:r>
            <a:r>
              <a:rPr dirty="0" sz="800" spc="8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800" spc="8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still</a:t>
            </a:r>
            <a:r>
              <a:rPr dirty="0" sz="800" spc="8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pending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82717" y="1564473"/>
            <a:ext cx="3848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latin typeface="Arial"/>
                <a:cs typeface="Arial"/>
              </a:rPr>
              <a:t>Pending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6876" y="1840927"/>
            <a:ext cx="2533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order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5915" y="1840927"/>
            <a:ext cx="158750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Customer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browse</a:t>
            </a:r>
            <a:r>
              <a:rPr dirty="0" sz="8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place</a:t>
            </a:r>
            <a:r>
              <a:rPr dirty="0" sz="8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order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69221" y="1840927"/>
            <a:ext cx="15868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Browsing</a:t>
            </a:r>
            <a:r>
              <a:rPr dirty="0" sz="8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order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placing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worked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82334" y="1840927"/>
            <a:ext cx="2254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solidFill>
                  <a:srgbClr val="595959"/>
                </a:solidFill>
                <a:latin typeface="Arial"/>
                <a:cs typeface="Arial"/>
              </a:rPr>
              <a:t>Pass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60781" y="2152103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9193" y="2460281"/>
            <a:ext cx="5142230" cy="215265"/>
          </a:xfrm>
          <a:custGeom>
            <a:avLst/>
            <a:gdLst/>
            <a:ahLst/>
            <a:cxnLst/>
            <a:rect l="l" t="t" r="r" b="b"/>
            <a:pathLst>
              <a:path w="5142230" h="215264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141666" y="215238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47294" y="2447719"/>
            <a:ext cx="12617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133768"/>
                </a:solidFill>
                <a:latin typeface="Gill Sans MT"/>
                <a:cs typeface="Gill Sans MT"/>
              </a:rPr>
              <a:t>Results</a:t>
            </a:r>
            <a:r>
              <a:rPr dirty="0" sz="1200" spc="35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245">
                <a:solidFill>
                  <a:srgbClr val="133768"/>
                </a:solidFill>
                <a:latin typeface="Gill Sans MT"/>
                <a:cs typeface="Gill Sans MT"/>
              </a:rPr>
              <a:t>/</a:t>
            </a:r>
            <a:r>
              <a:rPr dirty="0" sz="1200" spc="4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Gill Sans MT"/>
                <a:cs typeface="Gill Sans MT"/>
              </a:rPr>
              <a:t>Validation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9193" y="2662872"/>
            <a:ext cx="5142230" cy="324485"/>
            <a:chOff x="309193" y="2662872"/>
            <a:chExt cx="5142230" cy="32448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2662872"/>
              <a:ext cx="5141666" cy="5060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09193" y="2707145"/>
              <a:ext cx="5142230" cy="280035"/>
            </a:xfrm>
            <a:custGeom>
              <a:avLst/>
              <a:gdLst/>
              <a:ahLst/>
              <a:cxnLst/>
              <a:rect l="l" t="t" r="r" b="b"/>
              <a:pathLst>
                <a:path w="5142230" h="280035">
                  <a:moveTo>
                    <a:pt x="5141666" y="0"/>
                  </a:moveTo>
                  <a:lnTo>
                    <a:pt x="0" y="0"/>
                  </a:lnTo>
                  <a:lnTo>
                    <a:pt x="0" y="229107"/>
                  </a:lnTo>
                  <a:lnTo>
                    <a:pt x="4008" y="248832"/>
                  </a:lnTo>
                  <a:lnTo>
                    <a:pt x="14922" y="264985"/>
                  </a:lnTo>
                  <a:lnTo>
                    <a:pt x="31075" y="275899"/>
                  </a:lnTo>
                  <a:lnTo>
                    <a:pt x="50800" y="279907"/>
                  </a:lnTo>
                  <a:lnTo>
                    <a:pt x="5090865" y="279907"/>
                  </a:lnTo>
                  <a:lnTo>
                    <a:pt x="5110590" y="275899"/>
                  </a:lnTo>
                  <a:lnTo>
                    <a:pt x="5126743" y="264985"/>
                  </a:lnTo>
                  <a:lnTo>
                    <a:pt x="5137657" y="248832"/>
                  </a:lnTo>
                  <a:lnTo>
                    <a:pt x="5141666" y="22910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47294" y="2688830"/>
            <a:ext cx="490918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4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5</a:t>
            </a:r>
            <a:r>
              <a:rPr dirty="0" sz="8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test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45" i="1">
                <a:solidFill>
                  <a:srgbClr val="595959"/>
                </a:solidFill>
                <a:latin typeface="Arial"/>
                <a:cs typeface="Arial"/>
              </a:rPr>
              <a:t>cases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45" i="1">
                <a:solidFill>
                  <a:srgbClr val="595959"/>
                </a:solidFill>
                <a:latin typeface="Arial"/>
                <a:cs typeface="Arial"/>
              </a:rPr>
              <a:t>passed</a:t>
            </a:r>
            <a:r>
              <a:rPr dirty="0" sz="8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sample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shops</a:t>
            </a:r>
            <a:r>
              <a:rPr dirty="0" sz="8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products.</a:t>
            </a:r>
            <a:r>
              <a:rPr dirty="0" sz="800" spc="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Delivery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agent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assignment</a:t>
            </a:r>
            <a:r>
              <a:rPr dirty="0" sz="8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will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tested</a:t>
            </a:r>
            <a:r>
              <a:rPr dirty="0" sz="8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once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800" spc="5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nearest-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agent</a:t>
            </a:r>
            <a:r>
              <a:rPr dirty="0" sz="800" spc="7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logic</a:t>
            </a:r>
            <a:r>
              <a:rPr dirty="0" sz="800" spc="7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800" spc="7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built</a:t>
            </a:r>
            <a:r>
              <a:rPr dirty="0" sz="800" spc="7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800" spc="7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Phase-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III.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14</a:t>
            </a:fld>
            <a:r>
              <a:rPr dirty="0" spc="-10"/>
              <a:t>/15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66395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GitHub</a:t>
            </a:r>
            <a:r>
              <a:rPr dirty="0" spc="30"/>
              <a:t> </a:t>
            </a:r>
            <a:r>
              <a:rPr dirty="0" spc="-60"/>
              <a:t>Repository</a:t>
            </a:r>
            <a:r>
              <a:rPr dirty="0" spc="25"/>
              <a:t> </a:t>
            </a:r>
            <a:r>
              <a:rPr dirty="0" spc="85"/>
              <a:t>&amp;</a:t>
            </a:r>
            <a:r>
              <a:rPr dirty="0" spc="30"/>
              <a:t> </a:t>
            </a:r>
            <a:r>
              <a:rPr dirty="0" spc="-60"/>
              <a:t>Development</a:t>
            </a:r>
            <a:r>
              <a:rPr dirty="0" spc="35"/>
              <a:t> </a:t>
            </a:r>
            <a:r>
              <a:rPr dirty="0" spc="-20"/>
              <a:t>Activity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913419"/>
            <a:ext cx="2442210" cy="180213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65" b="1">
                <a:solidFill>
                  <a:srgbClr val="133768"/>
                </a:solidFill>
                <a:latin typeface="Tahoma"/>
                <a:cs typeface="Tahoma"/>
              </a:rPr>
              <a:t>Repository</a:t>
            </a:r>
            <a:r>
              <a:rPr dirty="0" sz="1100" spc="-1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Information</a:t>
            </a:r>
            <a:endParaRPr sz="110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10">
                <a:latin typeface="Microsoft Sans Serif"/>
                <a:cs typeface="Microsoft Sans Serif"/>
              </a:rPr>
              <a:t>GitHub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Link: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  <a:hlinkClick r:id="rId2"/>
              </a:rPr>
              <a:t>https://github.com/shauryabisht75-ui/Local-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  <a:hlinkClick r:id="rId2"/>
              </a:rPr>
              <a:t>shop-delivery-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  <a:hlinkClick r:id="rId2"/>
              </a:rPr>
              <a:t>system-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25">
                <a:latin typeface="Microsoft Sans Serif"/>
                <a:cs typeface="Microsoft Sans Serif"/>
              </a:rPr>
              <a:t>README.md:</a:t>
            </a:r>
            <a:r>
              <a:rPr dirty="0" sz="1100" spc="90">
                <a:latin typeface="Microsoft Sans Serif"/>
                <a:cs typeface="Microsoft Sans Serif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Updated</a:t>
            </a:r>
            <a:endParaRPr sz="1100">
              <a:latin typeface="Arial"/>
              <a:cs typeface="Arial"/>
            </a:endParaRPr>
          </a:p>
          <a:p>
            <a:pPr marL="314960" marR="4495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20">
                <a:latin typeface="Microsoft Sans Serif"/>
                <a:cs typeface="Microsoft Sans Serif"/>
              </a:rPr>
              <a:t>Contributors:</a:t>
            </a:r>
            <a:r>
              <a:rPr dirty="0" sz="1100" spc="114">
                <a:latin typeface="Microsoft Sans Serif"/>
                <a:cs typeface="Microsoft Sans Serif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4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Members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Added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5" i="1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collaborators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5">
                <a:latin typeface="Microsoft Sans Serif"/>
                <a:cs typeface="Microsoft Sans Serif"/>
              </a:rPr>
              <a:t>Repository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Status:</a:t>
            </a:r>
            <a:r>
              <a:rPr dirty="0" sz="1100" spc="90">
                <a:latin typeface="Microsoft Sans Serif"/>
                <a:cs typeface="Microsoft Sans Serif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Updated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50">
                <a:latin typeface="Microsoft Sans Serif"/>
                <a:cs typeface="Microsoft Sans Serif"/>
              </a:rPr>
              <a:t>Branches:</a:t>
            </a:r>
            <a:r>
              <a:rPr dirty="0" sz="1100" spc="90">
                <a:latin typeface="Microsoft Sans Serif"/>
                <a:cs typeface="Microsoft Sans Serif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Main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41904" y="913419"/>
            <a:ext cx="2212975" cy="12858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70" b="1">
                <a:solidFill>
                  <a:srgbClr val="133768"/>
                </a:solidFill>
                <a:latin typeface="Tahoma"/>
                <a:cs typeface="Tahoma"/>
              </a:rPr>
              <a:t>Development</a:t>
            </a:r>
            <a:r>
              <a:rPr dirty="0" sz="1100" spc="3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Activity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Regular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commits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maintained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Meaningful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commit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messages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Individual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contribution visible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Latest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implementation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uploaded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Documentation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maintained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1344" y="2793149"/>
            <a:ext cx="4557395" cy="111125"/>
          </a:xfrm>
          <a:custGeom>
            <a:avLst/>
            <a:gdLst/>
            <a:ahLst/>
            <a:cxnLst/>
            <a:rect l="l" t="t" r="r" b="b"/>
            <a:pathLst>
              <a:path w="4557395" h="111125">
                <a:moveTo>
                  <a:pt x="4557318" y="0"/>
                </a:moveTo>
                <a:lnTo>
                  <a:pt x="0" y="0"/>
                </a:lnTo>
                <a:lnTo>
                  <a:pt x="0" y="110553"/>
                </a:lnTo>
                <a:lnTo>
                  <a:pt x="4557318" y="110553"/>
                </a:lnTo>
                <a:lnTo>
                  <a:pt x="4557318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14</a:t>
            </a:fld>
            <a:r>
              <a:rPr dirty="0" spc="-10"/>
              <a:t>/15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0"/>
              <a:t>Individual</a:t>
            </a:r>
            <a:r>
              <a:rPr dirty="0" spc="-15"/>
              <a:t> </a:t>
            </a:r>
            <a:r>
              <a:rPr dirty="0" spc="-55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0781" y="1013726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8081" y="1058962"/>
            <a:ext cx="3962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Member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0013" y="1058962"/>
            <a:ext cx="2222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latin typeface="Arial"/>
                <a:cs typeface="Arial"/>
              </a:rPr>
              <a:t>Role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91803" y="1058962"/>
            <a:ext cx="10477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Technical</a:t>
            </a:r>
            <a:r>
              <a:rPr dirty="0" sz="800" spc="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Contribution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0519" y="1058962"/>
            <a:ext cx="42481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spc="-10">
                <a:latin typeface="Arial"/>
                <a:cs typeface="Arial"/>
              </a:rPr>
              <a:t>GitHub Commits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0781" y="1369860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48081" y="1413013"/>
            <a:ext cx="6356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Shaurya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bisht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0043" y="1413013"/>
            <a:ext cx="4914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Team</a:t>
            </a:r>
            <a:r>
              <a:rPr dirty="0" sz="8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lead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8081" y="1695486"/>
            <a:ext cx="6902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Mayank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ranjan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8081" y="1977947"/>
            <a:ext cx="5645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Raj</a:t>
            </a:r>
            <a:r>
              <a:rPr dirty="0" sz="8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vardhan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8081" y="2260420"/>
            <a:ext cx="6629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Aradhay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singh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9820" y="1695486"/>
            <a:ext cx="746125" cy="8324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 indent="-635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Shop</a:t>
            </a:r>
            <a:r>
              <a:rPr dirty="0" sz="800" spc="4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manage-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ment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32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Customer</a:t>
            </a:r>
            <a:r>
              <a:rPr dirty="0" sz="800" spc="7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mod-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ule</a:t>
            </a:r>
            <a:endParaRPr sz="800">
              <a:latin typeface="Arial"/>
              <a:cs typeface="Arial"/>
            </a:endParaRPr>
          </a:p>
          <a:p>
            <a:pPr marL="12700" marR="5080" indent="-635">
              <a:lnSpc>
                <a:spcPts val="950"/>
              </a:lnSpc>
              <a:spcBef>
                <a:spcPts val="32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Delivery</a:t>
            </a:r>
            <a:r>
              <a:rPr dirty="0" sz="800" spc="190" i="1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agent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module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91740" y="1413013"/>
            <a:ext cx="2687955" cy="11150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  <a:tabLst>
                <a:tab pos="2531110" algn="l"/>
              </a:tabLst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Created</a:t>
            </a:r>
            <a:r>
              <a:rPr dirty="0" sz="800" spc="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repo</a:t>
            </a:r>
            <a:r>
              <a:rPr dirty="0" sz="800" spc="6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folder</a:t>
            </a:r>
            <a:r>
              <a:rPr dirty="0" sz="800" spc="6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structure;</a:t>
            </a:r>
            <a:r>
              <a:rPr dirty="0" sz="800" spc="8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built</a:t>
            </a:r>
            <a:r>
              <a:rPr dirty="0" sz="800" spc="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order</a:t>
            </a:r>
            <a:r>
              <a:rPr dirty="0" sz="800" spc="6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queue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XX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and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linked</a:t>
            </a:r>
            <a:r>
              <a:rPr dirty="0" sz="8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list;created</a:t>
            </a:r>
            <a:r>
              <a:rPr dirty="0" sz="8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MySQL</a:t>
            </a:r>
            <a:r>
              <a:rPr dirty="0" sz="8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tables</a:t>
            </a:r>
            <a:r>
              <a:rPr dirty="0" sz="8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via</a:t>
            </a:r>
            <a:r>
              <a:rPr dirty="0" sz="8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XAMPP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325"/>
              </a:spcBef>
              <a:tabLst>
                <a:tab pos="1517015" algn="l"/>
                <a:tab pos="2531110" algn="l"/>
              </a:tabLst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Product</a:t>
            </a:r>
            <a:r>
              <a:rPr dirty="0" sz="800" spc="145" i="1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145" i="1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Shop</a:t>
            </a:r>
            <a:r>
              <a:rPr dirty="0" sz="800" spc="145" i="1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classes;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hash-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map</a:t>
            </a:r>
            <a:r>
              <a:rPr dirty="0" sz="800" spc="155" i="1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lookup;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XX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add/update/delete/view</a:t>
            </a:r>
            <a:r>
              <a:rPr dirty="0" sz="800" spc="1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stock</a:t>
            </a:r>
            <a:r>
              <a:rPr dirty="0" sz="800" spc="1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dirty="0" sz="800" spc="1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shopkeepers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325"/>
              </a:spcBef>
              <a:tabLst>
                <a:tab pos="2531110" algn="l"/>
              </a:tabLst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Customer</a:t>
            </a:r>
            <a:r>
              <a:rPr dirty="0" sz="800" spc="114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class;</a:t>
            </a:r>
            <a:r>
              <a:rPr dirty="0" sz="800" spc="19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browse</a:t>
            </a:r>
            <a:r>
              <a:rPr dirty="0" sz="800" spc="1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products</a:t>
            </a:r>
            <a:r>
              <a:rPr dirty="0" sz="800" spc="1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1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place</a:t>
            </a:r>
            <a:r>
              <a:rPr dirty="0" sz="800" spc="1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order;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XX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price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comparison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by sorting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(cheapest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shop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first)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325"/>
              </a:spcBef>
              <a:tabLst>
                <a:tab pos="2531110" algn="l"/>
              </a:tabLst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User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base</a:t>
            </a:r>
            <a:r>
              <a:rPr dirty="0" sz="8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DeliveryAgent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dirty="0" sz="8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inheri-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XX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tance; agent registration;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viewing 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assigned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orders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781" y="2573388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9181" y="2873984"/>
            <a:ext cx="5142230" cy="114300"/>
          </a:xfrm>
          <a:custGeom>
            <a:avLst/>
            <a:gdLst/>
            <a:ahLst/>
            <a:cxnLst/>
            <a:rect l="l" t="t" r="r" b="b"/>
            <a:pathLst>
              <a:path w="5142230" h="114300">
                <a:moveTo>
                  <a:pt x="5141671" y="44437"/>
                </a:moveTo>
                <a:lnTo>
                  <a:pt x="5140376" y="44437"/>
                </a:lnTo>
                <a:lnTo>
                  <a:pt x="5137658" y="31076"/>
                </a:lnTo>
                <a:lnTo>
                  <a:pt x="5126748" y="14922"/>
                </a:lnTo>
                <a:lnTo>
                  <a:pt x="5110594" y="4013"/>
                </a:lnTo>
                <a:lnTo>
                  <a:pt x="5090871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82" y="44437"/>
                </a:lnTo>
                <a:lnTo>
                  <a:pt x="0" y="44437"/>
                </a:lnTo>
                <a:lnTo>
                  <a:pt x="0" y="50800"/>
                </a:lnTo>
                <a:lnTo>
                  <a:pt x="0" y="63360"/>
                </a:lnTo>
                <a:lnTo>
                  <a:pt x="0" y="82384"/>
                </a:lnTo>
                <a:lnTo>
                  <a:pt x="3860" y="82384"/>
                </a:lnTo>
                <a:lnTo>
                  <a:pt x="4013" y="83096"/>
                </a:lnTo>
                <a:lnTo>
                  <a:pt x="14922" y="99250"/>
                </a:lnTo>
                <a:lnTo>
                  <a:pt x="31076" y="110159"/>
                </a:lnTo>
                <a:lnTo>
                  <a:pt x="50812" y="114173"/>
                </a:lnTo>
                <a:lnTo>
                  <a:pt x="5090871" y="114173"/>
                </a:lnTo>
                <a:lnTo>
                  <a:pt x="5110594" y="110159"/>
                </a:lnTo>
                <a:lnTo>
                  <a:pt x="5126748" y="99250"/>
                </a:lnTo>
                <a:lnTo>
                  <a:pt x="5137658" y="83096"/>
                </a:lnTo>
                <a:lnTo>
                  <a:pt x="5137797" y="82384"/>
                </a:lnTo>
                <a:lnTo>
                  <a:pt x="5141671" y="82384"/>
                </a:lnTo>
                <a:lnTo>
                  <a:pt x="5141671" y="63360"/>
                </a:lnTo>
                <a:lnTo>
                  <a:pt x="5141671" y="50800"/>
                </a:lnTo>
                <a:lnTo>
                  <a:pt x="5141671" y="44437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14</a:t>
            </a:fld>
            <a:r>
              <a:rPr dirty="0" spc="-10"/>
              <a:t>/15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Challenges,</a:t>
            </a:r>
            <a:r>
              <a:rPr dirty="0" spc="15"/>
              <a:t> </a:t>
            </a:r>
            <a:r>
              <a:rPr dirty="0" spc="-65"/>
              <a:t>Remaining</a:t>
            </a:r>
            <a:r>
              <a:rPr dirty="0" spc="20"/>
              <a:t> </a:t>
            </a:r>
            <a:r>
              <a:rPr dirty="0" spc="-30"/>
              <a:t>Work</a:t>
            </a:r>
            <a:r>
              <a:rPr dirty="0" spc="20"/>
              <a:t> </a:t>
            </a:r>
            <a:r>
              <a:rPr dirty="0" spc="85"/>
              <a:t>&amp;</a:t>
            </a:r>
            <a:r>
              <a:rPr dirty="0" spc="20"/>
              <a:t> </a:t>
            </a:r>
            <a:r>
              <a:rPr dirty="0" spc="-95"/>
              <a:t>Phase-</a:t>
            </a:r>
            <a:r>
              <a:rPr dirty="0" spc="-90"/>
              <a:t>III</a:t>
            </a:r>
            <a:r>
              <a:rPr dirty="0" spc="20"/>
              <a:t> </a:t>
            </a:r>
            <a:r>
              <a:rPr dirty="0" spc="-45"/>
              <a:t>Roadmap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pc="-70"/>
              <a:t>Challenges</a:t>
            </a:r>
            <a:r>
              <a:rPr dirty="0" spc="-10"/>
              <a:t> Faced</a:t>
            </a:r>
          </a:p>
          <a:p>
            <a:pPr marL="314960" marR="3111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b="0" i="1">
                <a:solidFill>
                  <a:srgbClr val="595959"/>
                </a:solidFill>
                <a:latin typeface="Arial"/>
                <a:cs typeface="Arial"/>
              </a:rPr>
              <a:t>C++–MySQL</a:t>
            </a:r>
            <a:r>
              <a:rPr dirty="0" sz="110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b="0" i="1">
                <a:solidFill>
                  <a:srgbClr val="595959"/>
                </a:solidFill>
                <a:latin typeface="Arial"/>
                <a:cs typeface="Arial"/>
              </a:rPr>
              <a:t>connector</a:t>
            </a:r>
            <a:r>
              <a:rPr dirty="0" sz="110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b="0" i="1">
                <a:solidFill>
                  <a:srgbClr val="595959"/>
                </a:solidFill>
                <a:latin typeface="Arial"/>
                <a:cs typeface="Arial"/>
              </a:rPr>
              <a:t>gave</a:t>
            </a:r>
            <a:r>
              <a:rPr dirty="0" sz="1100" spc="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b="0" i="1">
                <a:solidFill>
                  <a:srgbClr val="595959"/>
                </a:solidFill>
                <a:latin typeface="Arial"/>
                <a:cs typeface="Arial"/>
              </a:rPr>
              <a:t>linking </a:t>
            </a:r>
            <a:r>
              <a:rPr dirty="0" sz="1100" spc="-55" b="0" i="1">
                <a:solidFill>
                  <a:srgbClr val="595959"/>
                </a:solidFill>
                <a:latin typeface="Arial"/>
                <a:cs typeface="Arial"/>
              </a:rPr>
              <a:t>errors</a:t>
            </a:r>
            <a:r>
              <a:rPr dirty="0" sz="11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0" i="1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z="11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0" i="1">
                <a:solidFill>
                  <a:srgbClr val="595959"/>
                </a:solidFill>
                <a:latin typeface="Arial"/>
                <a:cs typeface="Arial"/>
              </a:rPr>
              <a:t>XAMPP</a:t>
            </a:r>
            <a:r>
              <a:rPr dirty="0" sz="11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b="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b="0" i="1">
                <a:solidFill>
                  <a:srgbClr val="595959"/>
                </a:solidFill>
                <a:latin typeface="Arial"/>
                <a:cs typeface="Arial"/>
              </a:rPr>
              <a:t>VS</a:t>
            </a:r>
            <a:r>
              <a:rPr dirty="0" sz="11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b="0" i="1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endParaRPr sz="1100">
              <a:latin typeface="Arial"/>
              <a:cs typeface="Arial"/>
            </a:endParaRPr>
          </a:p>
          <a:p>
            <a:pPr marL="314960" marR="21336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25" b="0" i="1">
                <a:solidFill>
                  <a:srgbClr val="595959"/>
                </a:solidFill>
                <a:latin typeface="Arial"/>
                <a:cs typeface="Arial"/>
              </a:rPr>
              <a:t>Finding</a:t>
            </a:r>
            <a:r>
              <a:rPr dirty="0" sz="11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b="0" i="1">
                <a:solidFill>
                  <a:srgbClr val="595959"/>
                </a:solidFill>
                <a:latin typeface="Arial"/>
                <a:cs typeface="Arial"/>
              </a:rPr>
              <a:t>nearest</a:t>
            </a:r>
            <a:r>
              <a:rPr dirty="0" sz="11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b="0" i="1">
                <a:solidFill>
                  <a:srgbClr val="595959"/>
                </a:solidFill>
                <a:latin typeface="Arial"/>
                <a:cs typeface="Arial"/>
              </a:rPr>
              <a:t>delivery</a:t>
            </a:r>
            <a:r>
              <a:rPr dirty="0" sz="11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b="0" i="1">
                <a:solidFill>
                  <a:srgbClr val="595959"/>
                </a:solidFill>
                <a:latin typeface="Arial"/>
                <a:cs typeface="Arial"/>
              </a:rPr>
              <a:t>agent </a:t>
            </a:r>
            <a:r>
              <a:rPr dirty="0" sz="1100" b="0" i="1">
                <a:solidFill>
                  <a:srgbClr val="595959"/>
                </a:solidFill>
                <a:latin typeface="Arial"/>
                <a:cs typeface="Arial"/>
              </a:rPr>
              <a:t>without</a:t>
            </a:r>
            <a:r>
              <a:rPr dirty="0" sz="1100" spc="-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b="0" i="1">
                <a:solidFill>
                  <a:srgbClr val="595959"/>
                </a:solidFill>
                <a:latin typeface="Arial"/>
                <a:cs typeface="Arial"/>
              </a:rPr>
              <a:t>real</a:t>
            </a:r>
            <a:r>
              <a:rPr dirty="0" sz="1100" spc="-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b="0" i="1">
                <a:solidFill>
                  <a:srgbClr val="595959"/>
                </a:solidFill>
                <a:latin typeface="Arial"/>
                <a:cs typeface="Arial"/>
              </a:rPr>
              <a:t>GPS</a:t>
            </a:r>
            <a:endParaRPr sz="1100">
              <a:latin typeface="Arial"/>
              <a:cs typeface="Arial"/>
            </a:endParaRPr>
          </a:p>
          <a:p>
            <a:pPr marL="314960" marR="269875" indent="-177165">
              <a:lnSpc>
                <a:spcPct val="102699"/>
              </a:lnSpc>
              <a:spcBef>
                <a:spcPts val="1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25" b="0" i="1">
                <a:solidFill>
                  <a:srgbClr val="595959"/>
                </a:solidFill>
                <a:latin typeface="Arial"/>
                <a:cs typeface="Arial"/>
              </a:rPr>
              <a:t>Wrong</a:t>
            </a:r>
            <a:r>
              <a:rPr dirty="0" sz="110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b="0" i="1">
                <a:solidFill>
                  <a:srgbClr val="595959"/>
                </a:solidFill>
                <a:latin typeface="Arial"/>
                <a:cs typeface="Arial"/>
              </a:rPr>
              <a:t>console</a:t>
            </a:r>
            <a:r>
              <a:rPr dirty="0" sz="110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0" i="1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r>
              <a:rPr dirty="0" sz="110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b="0" i="1">
                <a:solidFill>
                  <a:srgbClr val="595959"/>
                </a:solidFill>
                <a:latin typeface="Arial"/>
                <a:cs typeface="Arial"/>
              </a:rPr>
              <a:t>crashed</a:t>
            </a:r>
            <a:r>
              <a:rPr dirty="0" sz="110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b="0" i="1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dirty="0" sz="1100" spc="-10" b="0" i="1">
                <a:solidFill>
                  <a:srgbClr val="595959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dirty="0" spc="-60"/>
              <a:t>Solutions</a:t>
            </a:r>
            <a:r>
              <a:rPr dirty="0" spc="15"/>
              <a:t> </a:t>
            </a:r>
            <a:r>
              <a:rPr dirty="0"/>
              <a:t>/</a:t>
            </a:r>
            <a:r>
              <a:rPr dirty="0" spc="15"/>
              <a:t> </a:t>
            </a:r>
            <a:r>
              <a:rPr dirty="0" spc="-10"/>
              <a:t>Learning</a:t>
            </a: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65" b="0" i="1">
                <a:solidFill>
                  <a:srgbClr val="595959"/>
                </a:solidFill>
                <a:latin typeface="Arial"/>
                <a:cs typeface="Arial"/>
              </a:rPr>
              <a:t>Tested</a:t>
            </a:r>
            <a:r>
              <a:rPr dirty="0" sz="1100" spc="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0" b="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0" i="1">
                <a:solidFill>
                  <a:srgbClr val="595959"/>
                </a:solidFill>
                <a:latin typeface="Arial"/>
                <a:cs typeface="Arial"/>
              </a:rPr>
              <a:t>tiny</a:t>
            </a:r>
            <a:r>
              <a:rPr dirty="0" sz="1100" spc="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b="0" i="1">
                <a:solidFill>
                  <a:srgbClr val="595959"/>
                </a:solidFill>
                <a:latin typeface="Arial"/>
                <a:cs typeface="Arial"/>
              </a:rPr>
              <a:t>correction</a:t>
            </a:r>
            <a:r>
              <a:rPr dirty="0" sz="1100" spc="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b="0" i="1">
                <a:solidFill>
                  <a:srgbClr val="595959"/>
                </a:solidFill>
                <a:latin typeface="Arial"/>
                <a:cs typeface="Arial"/>
              </a:rPr>
              <a:t>program</a:t>
            </a:r>
            <a:r>
              <a:rPr dirty="0" sz="1100" spc="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b="0" i="1">
                <a:solidFill>
                  <a:srgbClr val="595959"/>
                </a:solidFill>
                <a:latin typeface="Arial"/>
                <a:cs typeface="Arial"/>
              </a:rPr>
              <a:t>first</a:t>
            </a:r>
            <a:endParaRPr sz="1100">
              <a:latin typeface="Arial"/>
              <a:cs typeface="Arial"/>
            </a:endParaRPr>
          </a:p>
          <a:p>
            <a:pPr marL="314960" marR="290830" indent="-177165">
              <a:lnSpc>
                <a:spcPct val="102699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0" b="0" i="1">
                <a:solidFill>
                  <a:srgbClr val="595959"/>
                </a:solidFill>
                <a:latin typeface="Arial"/>
                <a:cs typeface="Arial"/>
              </a:rPr>
              <a:t>Merge</a:t>
            </a:r>
            <a:r>
              <a:rPr dirty="0" sz="11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b="0" i="1">
                <a:solidFill>
                  <a:srgbClr val="595959"/>
                </a:solidFill>
                <a:latin typeface="Arial"/>
                <a:cs typeface="Arial"/>
              </a:rPr>
              <a:t>conflicts</a:t>
            </a:r>
            <a:r>
              <a:rPr dirty="0" sz="11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b="0" i="1">
                <a:solidFill>
                  <a:srgbClr val="595959"/>
                </a:solidFill>
                <a:latin typeface="Arial"/>
                <a:cs typeface="Arial"/>
              </a:rPr>
              <a:t>fixed</a:t>
            </a:r>
            <a:r>
              <a:rPr dirty="0" sz="11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0" i="1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z="11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b="0" i="1">
                <a:solidFill>
                  <a:srgbClr val="595959"/>
                </a:solidFill>
                <a:latin typeface="Arial"/>
                <a:cs typeface="Arial"/>
              </a:rPr>
              <a:t>per </a:t>
            </a:r>
            <a:r>
              <a:rPr dirty="0" sz="1100" spc="-50" b="0" i="1">
                <a:solidFill>
                  <a:srgbClr val="595959"/>
                </a:solidFill>
                <a:latin typeface="Arial"/>
                <a:cs typeface="Arial"/>
              </a:rPr>
              <a:t>member</a:t>
            </a:r>
            <a:r>
              <a:rPr dirty="0" sz="1100" spc="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b="0" i="1">
                <a:solidFill>
                  <a:srgbClr val="595959"/>
                </a:solidFill>
                <a:latin typeface="Arial"/>
                <a:cs typeface="Arial"/>
              </a:rPr>
              <a:t>branches,small</a:t>
            </a:r>
            <a:r>
              <a:rPr dirty="0" sz="1100" spc="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b="0" i="1">
                <a:solidFill>
                  <a:srgbClr val="595959"/>
                </a:solidFill>
                <a:latin typeface="Arial"/>
                <a:cs typeface="Arial"/>
              </a:rPr>
              <a:t>commits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68117" y="913419"/>
            <a:ext cx="2402840" cy="228028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95" b="1">
                <a:solidFill>
                  <a:srgbClr val="133768"/>
                </a:solidFill>
                <a:latin typeface="Tahoma"/>
                <a:cs typeface="Tahoma"/>
              </a:rPr>
              <a:t>Phase-</a:t>
            </a:r>
            <a:r>
              <a:rPr dirty="0" sz="1100" spc="-120" b="1">
                <a:solidFill>
                  <a:srgbClr val="133768"/>
                </a:solidFill>
                <a:latin typeface="Tahoma"/>
                <a:cs typeface="Tahoma"/>
              </a:rPr>
              <a:t>III</a:t>
            </a:r>
            <a:r>
              <a:rPr dirty="0" sz="1100" spc="9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Roadmap</a:t>
            </a:r>
            <a:endParaRPr sz="1100">
              <a:latin typeface="Tahoma"/>
              <a:cs typeface="Tahoma"/>
            </a:endParaRPr>
          </a:p>
          <a:p>
            <a:pPr marL="287655" marR="35560" indent="-175260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9560" algn="l"/>
              </a:tabLst>
            </a:pP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Complete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remaining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modules:</a:t>
            </a:r>
            <a:r>
              <a:rPr dirty="0" sz="1100" spc="7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order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tracking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nearest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agent,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delivery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completion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,rating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100">
              <a:latin typeface="Arial"/>
              <a:cs typeface="Arial"/>
            </a:endParaRPr>
          </a:p>
          <a:p>
            <a:pPr marL="287655" marR="5080" indent="-175260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9560" algn="l"/>
              </a:tabLst>
            </a:pP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integration:</a:t>
            </a:r>
            <a:r>
              <a:rPr dirty="0" sz="11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merge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all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branches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into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main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after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lead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287655" marR="200660" indent="-175260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9560" algn="l"/>
              </a:tabLst>
            </a:pP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Testing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dirty="0" sz="1100" spc="1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validation,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error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handling,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nearest-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agent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test,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bug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fixing</a:t>
            </a:r>
            <a:endParaRPr sz="1100">
              <a:latin typeface="Arial"/>
              <a:cs typeface="Arial"/>
            </a:endParaRPr>
          </a:p>
          <a:p>
            <a:pPr marL="287655" marR="163195" indent="-175260">
              <a:lnSpc>
                <a:spcPct val="102600"/>
              </a:lnSpc>
              <a:spcBef>
                <a:spcPts val="295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9560" algn="l"/>
              </a:tabLst>
            </a:pP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Final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validation:</a:t>
            </a:r>
            <a:r>
              <a:rPr dirty="0" sz="1100" spc="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run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full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shopkeeper</a:t>
            </a:r>
            <a:r>
              <a:rPr dirty="0" sz="11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→</a:t>
            </a:r>
            <a:r>
              <a:rPr dirty="0" sz="11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customer</a:t>
            </a:r>
            <a:r>
              <a:rPr dirty="0" sz="1100" spc="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→</a:t>
            </a:r>
            <a:r>
              <a:rPr dirty="0" sz="11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agent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flow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sample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dirty="0" spc="-10"/>
              <a:t>14</a:t>
            </a:fld>
            <a:r>
              <a:rPr dirty="0" spc="-10"/>
              <a:t>/15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Expected</a:t>
            </a:r>
            <a:r>
              <a:rPr dirty="0" spc="20"/>
              <a:t> </a:t>
            </a:r>
            <a:r>
              <a:rPr dirty="0" spc="-45"/>
              <a:t>Outcomes</a:t>
            </a:r>
            <a:r>
              <a:rPr dirty="0" spc="25"/>
              <a:t> </a:t>
            </a:r>
            <a:r>
              <a:rPr dirty="0" spc="85"/>
              <a:t>&amp;</a:t>
            </a:r>
            <a:r>
              <a:rPr dirty="0" spc="20"/>
              <a:t> </a:t>
            </a:r>
            <a:r>
              <a:rPr dirty="0" spc="-75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913419"/>
            <a:ext cx="2408555" cy="210820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50" b="1">
                <a:solidFill>
                  <a:srgbClr val="133768"/>
                </a:solidFill>
                <a:latin typeface="Tahoma"/>
                <a:cs typeface="Tahoma"/>
              </a:rPr>
              <a:t>Expected</a:t>
            </a:r>
            <a:r>
              <a:rPr dirty="0" sz="1100" spc="-1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35" b="1">
                <a:solidFill>
                  <a:srgbClr val="133768"/>
                </a:solidFill>
                <a:latin typeface="Tahoma"/>
                <a:cs typeface="Tahoma"/>
              </a:rPr>
              <a:t>Final</a:t>
            </a:r>
            <a:r>
              <a:rPr dirty="0" sz="1100" spc="-1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Outcomes</a:t>
            </a:r>
            <a:endParaRPr sz="1100">
              <a:latin typeface="Tahoma"/>
              <a:cs typeface="Tahoma"/>
            </a:endParaRPr>
          </a:p>
          <a:p>
            <a:pPr marL="314960" marR="10033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Working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100" i="1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console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app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shopkeeper,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customer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delivery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agent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endParaRPr sz="1100">
              <a:latin typeface="Arial"/>
              <a:cs typeface="Arial"/>
            </a:endParaRPr>
          </a:p>
          <a:p>
            <a:pPr marL="314960" marR="36576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planned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test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14" i="1">
                <a:solidFill>
                  <a:srgbClr val="595959"/>
                </a:solidFill>
                <a:latin typeface="Arial"/>
                <a:cs typeface="Arial"/>
              </a:rPr>
              <a:t>cases</a:t>
            </a:r>
            <a:r>
              <a:rPr dirty="0" sz="11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passing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(currently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4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5)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Helps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small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shops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customers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remote,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hilly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areas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without</a:t>
            </a:r>
            <a:endParaRPr sz="11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quick-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delivery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100">
              <a:latin typeface="Arial"/>
              <a:cs typeface="Arial"/>
            </a:endParaRPr>
          </a:p>
          <a:p>
            <a:pPr marL="314960" marR="100965" indent="-177165">
              <a:lnSpc>
                <a:spcPct val="102600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Console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version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95" i="1">
                <a:solidFill>
                  <a:srgbClr val="595959"/>
                </a:solidFill>
                <a:latin typeface="Arial"/>
                <a:cs typeface="Arial"/>
              </a:rPr>
              <a:t>base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planned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mobile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app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real-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8497" y="913419"/>
            <a:ext cx="2245360" cy="1936114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References</a:t>
            </a:r>
            <a:endParaRPr sz="1100">
              <a:latin typeface="Tahoma"/>
              <a:cs typeface="Tahoma"/>
            </a:endParaRPr>
          </a:p>
          <a:p>
            <a:pPr algn="just" marL="287655" marR="5080" indent="-175260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9560" algn="l"/>
              </a:tabLst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T.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H.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Cormen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et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al.,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Introduction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1100" spc="7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Algorithms</a:t>
            </a:r>
            <a:endParaRPr sz="1100">
              <a:latin typeface="Arial"/>
              <a:cs typeface="Arial"/>
            </a:endParaRPr>
          </a:p>
          <a:p>
            <a:pPr algn="just" marL="287655" marR="271145" indent="-175260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9560" algn="l"/>
              </a:tabLst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A.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Silberschatz,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H.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Korth,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S.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Sudarshan,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System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Concepts</a:t>
            </a:r>
            <a:endParaRPr sz="1100">
              <a:latin typeface="Arial"/>
              <a:cs typeface="Arial"/>
            </a:endParaRPr>
          </a:p>
          <a:p>
            <a:pPr marL="287655" marR="498475" indent="-175260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9560" algn="l"/>
              </a:tabLst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B.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Stroustrup,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The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75" i="1">
                <a:solidFill>
                  <a:srgbClr val="595959"/>
                </a:solidFill>
                <a:latin typeface="Arial"/>
                <a:cs typeface="Arial"/>
              </a:rPr>
              <a:t>C++ </a:t>
            </a:r>
            <a:r>
              <a:rPr dirty="0" sz="1100" spc="75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Language</a:t>
            </a:r>
            <a:endParaRPr sz="1100">
              <a:latin typeface="Arial"/>
              <a:cs typeface="Arial"/>
            </a:endParaRPr>
          </a:p>
          <a:p>
            <a:pPr marL="287655" marR="80010" indent="-175260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Microsoft Sans Serif"/>
              <a:buAutoNum type="arabicPeriod"/>
              <a:tabLst>
                <a:tab pos="289560" algn="l"/>
              </a:tabLst>
            </a:pP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Oracle,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MySQL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100" i="1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Developer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Guide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18561" y="2867734"/>
            <a:ext cx="22917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133768"/>
                </a:solidFill>
                <a:latin typeface="Microsoft Sans Serif"/>
                <a:cs typeface="Microsoft Sans Serif"/>
              </a:rPr>
              <a:t>5.</a:t>
            </a:r>
            <a:r>
              <a:rPr dirty="0" sz="1100" spc="170">
                <a:solidFill>
                  <a:srgbClr val="133768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  <a:hlinkClick r:id="rId2"/>
              </a:rPr>
              <a:t>https://github.com/shauryabisht75-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300" y="3001846"/>
            <a:ext cx="311531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41655">
              <a:lnSpc>
                <a:spcPts val="1110"/>
              </a:lnSpc>
              <a:spcBef>
                <a:spcPts val="90"/>
              </a:spcBef>
            </a:pP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tracking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509"/>
              </a:lnSpc>
            </a:pP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Department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of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Computer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133768"/>
                </a:solidFill>
                <a:latin typeface="Arial"/>
                <a:cs typeface="Arial"/>
              </a:rPr>
              <a:t>Science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80">
                <a:solidFill>
                  <a:srgbClr val="133768"/>
                </a:solidFill>
                <a:latin typeface="Arial"/>
                <a:cs typeface="Arial"/>
              </a:rPr>
              <a:t>&amp;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Engineering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—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Graphic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Era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(Deemed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to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be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University)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95586" y="3039807"/>
            <a:ext cx="1786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ui/Local-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shop-delivery-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system-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37802" y="3115378"/>
            <a:ext cx="22732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0E294E"/>
                </a:solidFill>
                <a:latin typeface="Arial"/>
                <a:cs typeface="Arial"/>
              </a:rPr>
              <a:t>15/15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9595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Project TitleTeam ID: XXXX</dc:creator>
  <dc:title>Project-Based Learning [2mm]Phase-II Evaluation</dc:title>
  <dcterms:created xsi:type="dcterms:W3CDTF">2026-10-10T11:28:54Z</dcterms:created>
  <dcterms:modified xsi:type="dcterms:W3CDTF">2026-10-10T11:28:54Z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2026-10-10T00:00:00Z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2026-10-10T00:00:00Z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